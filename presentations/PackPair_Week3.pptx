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b1e5f5d4b_2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eb1e5f5d4b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HABIBA — entire slide (~25 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We're DYOP Group 4 — PackPair, the AI-powered team-formation web app for UW. Quick refresher: PackPair fixes how UW project teams get formed today — friend-picking clusters the strong students, randomizing mismatches skills and schedules. We use three AI layers: constraint-satisfaction search for the team assignment, Bayesian reputation that learns from peer ratings, and supervised team-success prediction. This is Week 3 — and this is the week PackPair stopped being a demo and became a real, working application: real UW login, a real database, and a real AI backend, all wired together end to end.</a:t>
            </a:r>
            <a:endParaRPr/>
          </a:p>
        </p:txBody>
      </p:sp>
      <p:sp>
        <p:nvSpPr>
          <p:cNvPr id="128" name="Google Shape;128;g3eb1e5f5d4b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b1ed0b444_1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g3eb1ed0b444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entire slide (~35 s). Each Done bullet is the next iteration of last week's plan — read each left-to-right: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sign-in was a simulation. This week it's the real thing — Google login locked to uw.edu accounts, and we tested it end to end with a real UW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the matcher ran only in the browser. This week there's a real three-tier backend: the web app, a real database, and a separate Python AI service that does the matching.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nothing was saved. This week everything lives in a real database with security rules, so each student can only see their own data — that's the privacy guarantee made real, not just 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the solver was still a prototype. This week it's hardened: every single student is guaranteed a team even when the class doesn't divide evenly, and a thirty-student class solves in about one second.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 whole thing is now a working app — an instructor creates an event, the AI forms balanced teams, and they're saved and displayed with the reasoning behind each team.</a:t>
            </a:r>
            <a:endParaRPr/>
          </a:p>
        </p:txBody>
      </p:sp>
      <p:sp>
        <p:nvSpPr>
          <p:cNvPr id="146" name="Google Shape;146;g3eb1ed0b444_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b1ed0b444_1_1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eb1ed0b444_1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HABIBA — entire slide (~60 s). Click the gold link to open the live demo (packpair.vercel.app/demo) — it loads the real AI-formed teams + reputation, no login needed. Or sign in and walk the full 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PackPair as a real product now. STEP 1 — I sign in with my actual UW Google account; the app rejects anything that isn't a uw.edu address. STEP 2 — as the instructor I create an event for the class, set the team size, and pick what happens when the class doesn't divide evenly. STEP 3 — the roster fills; for the demo I can seed a test class instantly so we don't need thirty live signups. STEP 4 — I click Form Teams and the Python AI service runs the constraint solver: it placed all twelve students into four balanced teams in about a second. STEP 5 — every team is saved to the database and displayed with its reasoning: the skills it covers, shared availability, shared interests, and a score. That's the constraint-satisfaction AI layer, visible and explainable, running on the real backend — not a mockup.</a:t>
            </a:r>
            <a:endParaRPr/>
          </a:p>
        </p:txBody>
      </p:sp>
      <p:sp>
        <p:nvSpPr>
          <p:cNvPr id="162" name="Google Shape;162;g3eb1ed0b444_1_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b1ed0b444_1_2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g3eb1ed0b444_1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entire slide (~30 s). Honest read: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deployed and live, so these are the remaining items. First, our Google login is in test-user mode while the app is unverified, so we'll add the graders as test users — or publish it — before open sign-in. Second, we've validated with a seeded demo class; we haven't run a real-classmate pilot yet. Third, the free hosting sleeps when idle, so the very first load after a quiet spell takes about thirty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question for you: for the writeup's evaluation, is a small real pilot required, or is the seeded demo class acceptable?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week: add graders as test users, run the pilot on the live site, enforce the Canvas-verified instructor gate, finalize the writeup, and rehearse the final demo.</a:t>
            </a:r>
            <a:endParaRPr/>
          </a:p>
        </p:txBody>
      </p:sp>
      <p:sp>
        <p:nvSpPr>
          <p:cNvPr id="174" name="Google Shape;174;g3eb1ed0b444_1_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b1ed0b444_1_4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eb1ed0b444_1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closing (~15 s). [CONFIRM the hours + each person's bullets before presenting — adjust to match what you both actually did.]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Quick split. Habiba owned the backend this week — the database and security rules, the real UW Google login, the Python AI service, hardening the matcher, and wiring the app so an instructor can create an event and have the AI form teams. I owned the profile schema and the matches and rating screens, plus the demo walkthrough and the writeup draft. Eighteen hours this week, forty-nine cumulative. Thanks — happy to take questions.</a:t>
            </a:r>
            <a:endParaRPr/>
          </a:p>
        </p:txBody>
      </p:sp>
      <p:sp>
        <p:nvSpPr>
          <p:cNvPr id="193" name="Google Shape;193;g3eb1ed0b444_1_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packpair.vercel.ap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15" cy="318897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3188970"/>
            <a:ext cx="9144015" cy="96012"/>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p:nvPr/>
        </p:nvSpPr>
        <p:spPr>
          <a:xfrm>
            <a:off x="1371637" y="411480"/>
            <a:ext cx="6378110" cy="130302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3" name="Google Shape;133;p25"/>
          <p:cNvSpPr txBox="1"/>
          <p:nvPr/>
        </p:nvSpPr>
        <p:spPr>
          <a:xfrm>
            <a:off x="1371637" y="411480"/>
            <a:ext cx="6378110" cy="130302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6300" u="none" cap="none" strike="noStrike">
                <a:solidFill>
                  <a:srgbClr val="FFFFFF"/>
                </a:solidFill>
                <a:latin typeface="Calibri"/>
                <a:ea typeface="Calibri"/>
                <a:cs typeface="Calibri"/>
                <a:sym typeface="Calibri"/>
              </a:rPr>
              <a:t>PackPair</a:t>
            </a:r>
            <a:endParaRPr sz="1100"/>
          </a:p>
        </p:txBody>
      </p:sp>
      <p:sp>
        <p:nvSpPr>
          <p:cNvPr id="134" name="Google Shape;134;p25"/>
          <p:cNvSpPr/>
          <p:nvPr/>
        </p:nvSpPr>
        <p:spPr>
          <a:xfrm>
            <a:off x="1371637" y="1783080"/>
            <a:ext cx="6378110" cy="37719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1371637" y="1783080"/>
            <a:ext cx="63781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FFFFFF"/>
                </a:solidFill>
                <a:latin typeface="Calibri"/>
                <a:ea typeface="Calibri"/>
                <a:cs typeface="Calibri"/>
                <a:sym typeface="Calibri"/>
              </a:rPr>
              <a:t>AI-powered team formation for UW class projects</a:t>
            </a:r>
            <a:endParaRPr sz="1100"/>
          </a:p>
        </p:txBody>
      </p:sp>
      <p:sp>
        <p:nvSpPr>
          <p:cNvPr id="136" name="Google Shape;136;p25"/>
          <p:cNvSpPr/>
          <p:nvPr/>
        </p:nvSpPr>
        <p:spPr>
          <a:xfrm>
            <a:off x="1371637" y="2194560"/>
            <a:ext cx="6378110" cy="34290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7" name="Google Shape;137;p25"/>
          <p:cNvSpPr txBox="1"/>
          <p:nvPr/>
        </p:nvSpPr>
        <p:spPr>
          <a:xfrm>
            <a:off x="1371637" y="2194560"/>
            <a:ext cx="6378110" cy="34290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200" u="none" cap="none" strike="noStrike">
                <a:solidFill>
                  <a:srgbClr val="FFC83D"/>
                </a:solidFill>
                <a:latin typeface="Calibri"/>
                <a:ea typeface="Calibri"/>
                <a:cs typeface="Calibri"/>
                <a:sym typeface="Calibri"/>
              </a:rPr>
              <a:t>DYOP Final Project   |   University of Washington</a:t>
            </a:r>
            <a:endParaRPr sz="1100"/>
          </a:p>
        </p:txBody>
      </p:sp>
      <p:sp>
        <p:nvSpPr>
          <p:cNvPr id="138" name="Google Shape;138;p25"/>
          <p:cNvSpPr/>
          <p:nvPr/>
        </p:nvSpPr>
        <p:spPr>
          <a:xfrm>
            <a:off x="3291928" y="2640330"/>
            <a:ext cx="2537528" cy="445770"/>
          </a:xfrm>
          <a:prstGeom prst="rect">
            <a:avLst/>
          </a:prstGeom>
          <a:solidFill>
            <a:srgbClr val="FFC83D"/>
          </a:solidFill>
          <a:ln cap="flat" cmpd="sng" w="1270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9" name="Google Shape;139;p25"/>
          <p:cNvSpPr txBox="1"/>
          <p:nvPr/>
        </p:nvSpPr>
        <p:spPr>
          <a:xfrm>
            <a:off x="3291928" y="2640330"/>
            <a:ext cx="2537528" cy="44577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Week 3 Status Update</a:t>
            </a:r>
            <a:endParaRPr sz="1100"/>
          </a:p>
        </p:txBody>
      </p:sp>
      <p:sp>
        <p:nvSpPr>
          <p:cNvPr id="140" name="Google Shape;140;p25"/>
          <p:cNvSpPr/>
          <p:nvPr/>
        </p:nvSpPr>
        <p:spPr>
          <a:xfrm>
            <a:off x="1234473" y="3600450"/>
            <a:ext cx="6652437" cy="126873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1" name="Google Shape;141;p25"/>
          <p:cNvSpPr txBox="1"/>
          <p:nvPr/>
        </p:nvSpPr>
        <p:spPr>
          <a:xfrm>
            <a:off x="1234473" y="3669030"/>
            <a:ext cx="6652437" cy="34290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400" u="none" cap="none" strike="noStrike">
                <a:solidFill>
                  <a:srgbClr val="1B1B1F"/>
                </a:solidFill>
                <a:latin typeface="Calibri"/>
                <a:ea typeface="Calibri"/>
                <a:cs typeface="Calibri"/>
                <a:sym typeface="Calibri"/>
              </a:rPr>
              <a:t>Team Members</a:t>
            </a:r>
            <a:endParaRPr sz="1100"/>
          </a:p>
        </p:txBody>
      </p:sp>
      <p:sp>
        <p:nvSpPr>
          <p:cNvPr id="142" name="Google Shape;142;p25"/>
          <p:cNvSpPr txBox="1"/>
          <p:nvPr/>
        </p:nvSpPr>
        <p:spPr>
          <a:xfrm>
            <a:off x="1234473" y="4114800"/>
            <a:ext cx="6652437" cy="61722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800" u="none" cap="none" strike="noStrike">
                <a:solidFill>
                  <a:srgbClr val="1B1B1F"/>
                </a:solidFill>
                <a:latin typeface="Calibri"/>
                <a:ea typeface="Calibri"/>
                <a:cs typeface="Calibri"/>
                <a:sym typeface="Calibri"/>
              </a:rPr>
              <a:t>Habiba Elswify        Aasiya Sathar</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26"/>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0" name="Google Shape;150;p26"/>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This Week: Planned vs. Done</a:t>
            </a:r>
            <a:endParaRPr sz="1100"/>
          </a:p>
        </p:txBody>
      </p:sp>
      <p:sp>
        <p:nvSpPr>
          <p:cNvPr id="151" name="Google Shape;151;p26"/>
          <p:cNvSpPr/>
          <p:nvPr/>
        </p:nvSpPr>
        <p:spPr>
          <a:xfrm>
            <a:off x="308618"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2" name="Google Shape;152;p26"/>
          <p:cNvSpPr/>
          <p:nvPr/>
        </p:nvSpPr>
        <p:spPr>
          <a:xfrm>
            <a:off x="308618" y="960120"/>
            <a:ext cx="4114910" cy="377190"/>
          </a:xfrm>
          <a:prstGeom prst="rect">
            <a:avLst/>
          </a:prstGeom>
          <a:solidFill>
            <a:srgbClr val="4B2E83"/>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308618"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Planned</a:t>
            </a:r>
            <a:endParaRPr sz="1100"/>
          </a:p>
        </p:txBody>
      </p:sp>
      <p:sp>
        <p:nvSpPr>
          <p:cNvPr id="154" name="Google Shape;154;p26"/>
          <p:cNvSpPr txBox="1"/>
          <p:nvPr/>
        </p:nvSpPr>
        <p:spPr>
          <a:xfrm>
            <a:off x="308618" y="1405890"/>
            <a:ext cx="4114910" cy="3360420"/>
          </a:xfrm>
          <a:prstGeom prst="rect">
            <a:avLst/>
          </a:prstGeom>
          <a:noFill/>
          <a:ln>
            <a:noFill/>
          </a:ln>
        </p:spPr>
        <p:txBody>
          <a:bodyPr anchorCtr="0" anchor="t" bIns="68575" lIns="102875" spcFirstLastPara="1" rIns="102875" wrap="square" tIns="68575">
            <a:spAutoFit/>
          </a:bodyPr>
          <a:lstStyle/>
          <a:p>
            <a:pPr indent="0" lvl="0" marL="0" marR="0" rtl="0" algn="l">
              <a:lnSpc>
                <a:spcPct val="125000"/>
              </a:lnSpc>
              <a:spcBef>
                <a:spcPts val="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Set up the database + real UW Google sign-in</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Build out the full web app (not just a browser demo)</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Get it running on the real backend stack</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Deploy publicly + try it with classmates</a:t>
            </a:r>
            <a:endParaRPr sz="1100"/>
          </a:p>
        </p:txBody>
      </p:sp>
      <p:sp>
        <p:nvSpPr>
          <p:cNvPr id="155" name="Google Shape;155;p26"/>
          <p:cNvSpPr/>
          <p:nvPr/>
        </p:nvSpPr>
        <p:spPr>
          <a:xfrm>
            <a:off x="4697855"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p:nvPr/>
        </p:nvSpPr>
        <p:spPr>
          <a:xfrm>
            <a:off x="4697855" y="960120"/>
            <a:ext cx="4114910" cy="377190"/>
          </a:xfrm>
          <a:prstGeom prst="rect">
            <a:avLst/>
          </a:prstGeom>
          <a:solidFill>
            <a:srgbClr val="4B2E83"/>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26"/>
          <p:cNvSpPr txBox="1"/>
          <p:nvPr/>
        </p:nvSpPr>
        <p:spPr>
          <a:xfrm>
            <a:off x="4697855"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Done (building on Week 2)</a:t>
            </a:r>
            <a:endParaRPr sz="1100"/>
          </a:p>
        </p:txBody>
      </p:sp>
      <p:sp>
        <p:nvSpPr>
          <p:cNvPr id="158" name="Google Shape;158;p26"/>
          <p:cNvSpPr txBox="1"/>
          <p:nvPr/>
        </p:nvSpPr>
        <p:spPr>
          <a:xfrm>
            <a:off x="4697855" y="1405890"/>
            <a:ext cx="4114910" cy="3360420"/>
          </a:xfrm>
          <a:prstGeom prst="rect">
            <a:avLst/>
          </a:prstGeom>
          <a:noFill/>
          <a:ln>
            <a:noFill/>
          </a:ln>
        </p:spPr>
        <p:txBody>
          <a:bodyPr anchorCtr="0" anchor="t" bIns="68575" lIns="102875" spcFirstLastPara="1" rIns="102875" wrap="square" tIns="68575">
            <a:spAutoFit/>
          </a:bodyPr>
          <a:lstStyle/>
          <a:p>
            <a:pPr indent="0" lvl="0" marL="0" marR="0" rtl="0" algn="l">
              <a:lnSpc>
                <a:spcPct val="125000"/>
              </a:lnSpc>
              <a:spcBef>
                <a:spcPts val="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simulated sign-in</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real UW Google login</a:t>
            </a:r>
            <a:r>
              <a:rPr b="0" i="0" lang="en" sz="900" u="none" cap="none" strike="noStrike">
                <a:solidFill>
                  <a:srgbClr val="1B1B1F"/>
                </a:solidFill>
                <a:latin typeface="Calibri"/>
                <a:ea typeface="Calibri"/>
                <a:cs typeface="Calibri"/>
                <a:sym typeface="Calibri"/>
              </a:rPr>
              <a:t>, restricted to @uw.edu, tested end-to-end</a:t>
            </a:r>
            <a:endParaRPr sz="1100"/>
          </a:p>
          <a:p>
            <a:pPr indent="0" lvl="0" marL="0" marR="0" rtl="0" algn="l">
              <a:lnSpc>
                <a:spcPct val="125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browser-only matcher</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real 3-tier backend</a:t>
            </a:r>
            <a:r>
              <a:rPr b="0" i="0" lang="en" sz="900" u="none" cap="none" strike="noStrike">
                <a:solidFill>
                  <a:srgbClr val="1B1B1F"/>
                </a:solidFill>
                <a:latin typeface="Calibri"/>
                <a:ea typeface="Calibri"/>
                <a:cs typeface="Calibri"/>
                <a:sym typeface="Calibri"/>
              </a:rPr>
              <a:t>: web app + database + Python AI service</a:t>
            </a:r>
            <a:endParaRPr sz="1100"/>
          </a:p>
          <a:p>
            <a:pPr indent="0" lvl="0" marL="0" marR="0" rtl="0" algn="l">
              <a:lnSpc>
                <a:spcPct val="125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no saved data</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real database</a:t>
            </a:r>
            <a:r>
              <a:rPr b="0" i="0" lang="en" sz="900" u="none" cap="none" strike="noStrike">
                <a:solidFill>
                  <a:srgbClr val="1B1B1F"/>
                </a:solidFill>
                <a:latin typeface="Calibri"/>
                <a:ea typeface="Calibri"/>
                <a:cs typeface="Calibri"/>
                <a:sym typeface="Calibri"/>
              </a:rPr>
              <a:t> with security rules (each student sees only their own data)</a:t>
            </a:r>
            <a:endParaRPr sz="1100"/>
          </a:p>
          <a:p>
            <a:pPr indent="0" lvl="0" marL="0" marR="0" rtl="0" algn="l">
              <a:lnSpc>
                <a:spcPct val="125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prototype solver</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hardened matcher</a:t>
            </a:r>
            <a:r>
              <a:rPr b="0" i="0" lang="en" sz="900" u="none" cap="none" strike="noStrike">
                <a:solidFill>
                  <a:srgbClr val="1B1B1F"/>
                </a:solidFill>
                <a:latin typeface="Calibri"/>
                <a:ea typeface="Calibri"/>
                <a:cs typeface="Calibri"/>
                <a:sym typeface="Calibri"/>
              </a:rPr>
              <a:t>: every student guaranteed a team; 30 students in ~1 sec</a:t>
            </a:r>
            <a:endParaRPr sz="1100"/>
          </a:p>
          <a:p>
            <a:pPr indent="0" lvl="0" marL="0" marR="0" rtl="0" algn="l">
              <a:lnSpc>
                <a:spcPct val="125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interactive demo</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working app</a:t>
            </a:r>
            <a:r>
              <a:rPr b="0" i="0" lang="en" sz="900" u="none" cap="none" strike="noStrike">
                <a:solidFill>
                  <a:srgbClr val="1B1B1F"/>
                </a:solidFill>
                <a:latin typeface="Calibri"/>
                <a:ea typeface="Calibri"/>
                <a:cs typeface="Calibri"/>
                <a:sym typeface="Calibri"/>
              </a:rPr>
              <a:t>: instructor creates an event → AI forms balanced teams → saved + shown with reasoning</a:t>
            </a:r>
            <a:endParaRPr sz="1100"/>
          </a:p>
          <a:p>
            <a:pPr indent="0" lvl="0" marL="0" marR="0" rtl="0" algn="l">
              <a:lnSpc>
                <a:spcPct val="125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Wk 2 </a:t>
            </a:r>
            <a:r>
              <a:rPr b="1" i="0" lang="en" sz="900" u="none" cap="none" strike="noStrike">
                <a:solidFill>
                  <a:srgbClr val="1B1B1F"/>
                </a:solidFill>
                <a:latin typeface="Calibri"/>
                <a:ea typeface="Calibri"/>
                <a:cs typeface="Calibri"/>
                <a:sym typeface="Calibri"/>
              </a:rPr>
              <a:t>"deploy next week"</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deployed live</a:t>
            </a:r>
            <a:r>
              <a:rPr b="0" i="0" lang="en" sz="900" u="none" cap="none" strike="noStrike">
                <a:solidFill>
                  <a:srgbClr val="1B1B1F"/>
                </a:solidFill>
                <a:latin typeface="Calibri"/>
                <a:ea typeface="Calibri"/>
                <a:cs typeface="Calibri"/>
                <a:sym typeface="Calibri"/>
              </a:rPr>
              <a:t> — a public URL anyone can open (packpair.vercel.app)</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27"/>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6" name="Google Shape;166;p27"/>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Progress / Demo</a:t>
            </a:r>
            <a:endParaRPr sz="1100"/>
          </a:p>
        </p:txBody>
      </p:sp>
      <p:pic>
        <p:nvPicPr>
          <p:cNvPr descr="week3_demo.png" id="167" name="Google Shape;167;p27"/>
          <p:cNvPicPr preferRelativeResize="0"/>
          <p:nvPr/>
        </p:nvPicPr>
        <p:blipFill rotWithShape="1">
          <a:blip r:embed="rId3">
            <a:alphaModFix/>
          </a:blip>
          <a:srcRect b="0" l="0" r="0" t="0"/>
          <a:stretch/>
        </p:blipFill>
        <p:spPr>
          <a:xfrm>
            <a:off x="308625" y="960127"/>
            <a:ext cx="8526546" cy="2564062"/>
          </a:xfrm>
          <a:prstGeom prst="rect">
            <a:avLst/>
          </a:prstGeom>
          <a:noFill/>
          <a:ln>
            <a:noFill/>
          </a:ln>
        </p:spPr>
      </p:pic>
      <p:sp>
        <p:nvSpPr>
          <p:cNvPr id="168" name="Google Shape;168;p27"/>
          <p:cNvSpPr/>
          <p:nvPr/>
        </p:nvSpPr>
        <p:spPr>
          <a:xfrm>
            <a:off x="308393" y="3774186"/>
            <a:ext cx="8526900" cy="377100"/>
          </a:xfrm>
          <a:prstGeom prst="rect">
            <a:avLst/>
          </a:prstGeom>
          <a:solidFill>
            <a:srgbClr val="FFC83D"/>
          </a:solidFill>
          <a:ln cap="flat" cmpd="sng" w="1905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9" name="Google Shape;169;p27"/>
          <p:cNvSpPr txBox="1"/>
          <p:nvPr/>
        </p:nvSpPr>
        <p:spPr>
          <a:xfrm>
            <a:off x="141043" y="3808486"/>
            <a:ext cx="8526900" cy="212400"/>
          </a:xfrm>
          <a:prstGeom prst="rect">
            <a:avLst/>
          </a:prstGeom>
          <a:noFill/>
          <a:ln>
            <a:noFill/>
          </a:ln>
        </p:spPr>
        <p:txBody>
          <a:bodyPr anchorCtr="0" anchor="ctr" bIns="13700" lIns="68575" spcFirstLastPara="1" rIns="68575" wrap="square" tIns="13700">
            <a:spAutoFit/>
          </a:bodyPr>
          <a:lstStyle/>
          <a:p>
            <a:pPr indent="0" lvl="0" marL="0" marR="0" rtl="0" algn="ctr">
              <a:spcBef>
                <a:spcPts val="0"/>
              </a:spcBef>
              <a:spcAft>
                <a:spcPts val="0"/>
              </a:spcAft>
              <a:buNone/>
            </a:pPr>
            <a:r>
              <a:rPr b="1" i="0" lang="en" sz="1200" u="none" cap="none" strike="noStrike">
                <a:solidFill>
                  <a:srgbClr val="32235F"/>
                </a:solidFill>
                <a:latin typeface="Calibri"/>
                <a:ea typeface="Calibri"/>
                <a:cs typeface="Calibri"/>
                <a:sym typeface="Calibri"/>
              </a:rPr>
              <a:t>Try it live  →  </a:t>
            </a:r>
            <a:r>
              <a:rPr b="1" lang="en" sz="1200" u="sng">
                <a:solidFill>
                  <a:schemeClr val="hlink"/>
                </a:solidFill>
                <a:latin typeface="Calibri"/>
                <a:ea typeface="Calibri"/>
                <a:cs typeface="Calibri"/>
                <a:sym typeface="Calibri"/>
                <a:hlinkClick r:id="rId4"/>
              </a:rPr>
              <a:t>https://packpair.vercel.app/</a:t>
            </a:r>
            <a:r>
              <a:rPr b="1" lang="en" sz="1200" u="none">
                <a:solidFill>
                  <a:srgbClr val="32235F"/>
                </a:solidFill>
                <a:latin typeface="Calibri"/>
                <a:ea typeface="Calibri"/>
                <a:cs typeface="Calibri"/>
                <a:sym typeface="Calibri"/>
              </a:rPr>
              <a:t> </a:t>
            </a:r>
            <a:endParaRPr sz="1100"/>
          </a:p>
        </p:txBody>
      </p:sp>
      <p:sp>
        <p:nvSpPr>
          <p:cNvPr id="170" name="Google Shape;170;p27"/>
          <p:cNvSpPr txBox="1"/>
          <p:nvPr/>
        </p:nvSpPr>
        <p:spPr>
          <a:xfrm>
            <a:off x="308393" y="4322826"/>
            <a:ext cx="8526900" cy="366300"/>
          </a:xfrm>
          <a:prstGeom prst="rect">
            <a:avLst/>
          </a:prstGeom>
          <a:noFill/>
          <a:ln>
            <a:noFill/>
          </a:ln>
        </p:spPr>
        <p:txBody>
          <a:bodyPr anchorCtr="0" anchor="t"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4A4A55"/>
                </a:solidFill>
                <a:latin typeface="Calibri"/>
                <a:ea typeface="Calibri"/>
                <a:cs typeface="Calibri"/>
                <a:sym typeface="Calibri"/>
              </a:rPr>
              <a:t>Real UW Google login (enforced @uw.edu)   ·   3-tier stack: web + database + AI service   ·   every student guaranteed a team   ·   12 students → 4 balanced teams in ~1 s   ·   33 automated tests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7" name="Google Shape;177;p28"/>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8" name="Google Shape;178;p28"/>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Blockers &amp; Next Week's Plan</a:t>
            </a:r>
            <a:endParaRPr sz="1100"/>
          </a:p>
        </p:txBody>
      </p:sp>
      <p:sp>
        <p:nvSpPr>
          <p:cNvPr id="179" name="Google Shape;179;p28"/>
          <p:cNvSpPr/>
          <p:nvPr/>
        </p:nvSpPr>
        <p:spPr>
          <a:xfrm>
            <a:off x="308618" y="960120"/>
            <a:ext cx="4114910" cy="253746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8"/>
          <p:cNvSpPr/>
          <p:nvPr/>
        </p:nvSpPr>
        <p:spPr>
          <a:xfrm>
            <a:off x="308618" y="960120"/>
            <a:ext cx="4114910" cy="377190"/>
          </a:xfrm>
          <a:prstGeom prst="rect">
            <a:avLst/>
          </a:prstGeom>
          <a:solidFill>
            <a:srgbClr val="B71C1C"/>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1" name="Google Shape;181;p28"/>
          <p:cNvSpPr txBox="1"/>
          <p:nvPr/>
        </p:nvSpPr>
        <p:spPr>
          <a:xfrm>
            <a:off x="308618"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Blockers / Risks</a:t>
            </a:r>
            <a:endParaRPr sz="1100"/>
          </a:p>
        </p:txBody>
      </p:sp>
      <p:sp>
        <p:nvSpPr>
          <p:cNvPr id="182" name="Google Shape;182;p28"/>
          <p:cNvSpPr txBox="1"/>
          <p:nvPr/>
        </p:nvSpPr>
        <p:spPr>
          <a:xfrm>
            <a:off x="308618" y="1405890"/>
            <a:ext cx="4114800" cy="1045200"/>
          </a:xfrm>
          <a:prstGeom prst="rect">
            <a:avLst/>
          </a:prstGeom>
          <a:noFill/>
          <a:ln>
            <a:noFill/>
          </a:ln>
        </p:spPr>
        <p:txBody>
          <a:bodyPr anchorCtr="0" anchor="t" bIns="68575" lIns="102875" spcFirstLastPara="1" rIns="102875" wrap="square" tIns="68575">
            <a:spAutoFit/>
          </a:bodyPr>
          <a:lstStyle/>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1" i="0" lang="en" sz="1100" u="none" cap="none" strike="noStrike">
                <a:solidFill>
                  <a:srgbClr val="1B1B1F"/>
                </a:solidFill>
                <a:latin typeface="Calibri"/>
                <a:ea typeface="Calibri"/>
                <a:cs typeface="Calibri"/>
                <a:sym typeface="Calibri"/>
              </a:rPr>
              <a:t>Real-student pilot still pending</a:t>
            </a:r>
            <a:r>
              <a:rPr b="0" i="0" lang="en" sz="1100" u="none" cap="none" strike="noStrike">
                <a:solidFill>
                  <a:srgbClr val="1B1B1F"/>
                </a:solidFill>
                <a:latin typeface="Calibri"/>
                <a:ea typeface="Calibri"/>
                <a:cs typeface="Calibri"/>
                <a:sym typeface="Calibri"/>
              </a:rPr>
              <a:t> — validated with a seeded demo class so far</a:t>
            </a:r>
            <a:endParaRPr b="0" i="0" sz="1100" u="none" cap="none" strike="noStrike">
              <a:solidFill>
                <a:srgbClr val="1B1B1F"/>
              </a:solidFill>
              <a:latin typeface="Calibri"/>
              <a:ea typeface="Calibri"/>
              <a:cs typeface="Calibri"/>
              <a:sym typeface="Calibri"/>
            </a:endParaRPr>
          </a:p>
          <a:p>
            <a:pPr indent="0" lvl="0" marL="0" rtl="0" algn="l">
              <a:lnSpc>
                <a:spcPct val="130000"/>
              </a:lnSpc>
              <a:spcBef>
                <a:spcPts val="600"/>
              </a:spcBef>
              <a:spcAft>
                <a:spcPts val="0"/>
              </a:spcAft>
              <a:buClr>
                <a:schemeClr val="dk1"/>
              </a:buClr>
              <a:buFont typeface="Arial"/>
              <a:buNone/>
            </a:pPr>
            <a:r>
              <a:rPr b="1" lang="en" sz="1100">
                <a:solidFill>
                  <a:srgbClr val="4B2E83"/>
                </a:solidFill>
                <a:latin typeface="Calibri"/>
                <a:ea typeface="Calibri"/>
                <a:cs typeface="Calibri"/>
                <a:sym typeface="Calibri"/>
              </a:rPr>
              <a:t>•  </a:t>
            </a:r>
            <a:r>
              <a:rPr b="1" lang="en" sz="1100">
                <a:solidFill>
                  <a:srgbClr val="1B1B1F"/>
                </a:solidFill>
                <a:latin typeface="Calibri"/>
                <a:ea typeface="Calibri"/>
                <a:cs typeface="Calibri"/>
                <a:sym typeface="Calibri"/>
              </a:rPr>
              <a:t>Secure student data transfer </a:t>
            </a:r>
            <a:r>
              <a:rPr lang="en" sz="1100">
                <a:solidFill>
                  <a:srgbClr val="1B1B1F"/>
                </a:solidFill>
                <a:latin typeface="Calibri"/>
                <a:ea typeface="Calibri"/>
                <a:cs typeface="Calibri"/>
                <a:sym typeface="Calibri"/>
              </a:rPr>
              <a:t>— currently downloaded data is parsed upon import</a:t>
            </a:r>
            <a:endParaRPr sz="1100">
              <a:solidFill>
                <a:srgbClr val="1B1B1F"/>
              </a:solidFill>
              <a:latin typeface="Calibri"/>
              <a:ea typeface="Calibri"/>
              <a:cs typeface="Calibri"/>
              <a:sym typeface="Calibri"/>
            </a:endParaRPr>
          </a:p>
        </p:txBody>
      </p:sp>
      <p:sp>
        <p:nvSpPr>
          <p:cNvPr id="183" name="Google Shape;183;p28"/>
          <p:cNvSpPr/>
          <p:nvPr/>
        </p:nvSpPr>
        <p:spPr>
          <a:xfrm>
            <a:off x="308618" y="3600450"/>
            <a:ext cx="4114910" cy="1165860"/>
          </a:xfrm>
          <a:prstGeom prst="rect">
            <a:avLst/>
          </a:prstGeom>
          <a:solidFill>
            <a:srgbClr val="FCE4C2"/>
          </a:solidFill>
          <a:ln cap="flat" cmpd="sng" w="25400">
            <a:solidFill>
              <a:srgbClr val="FFC83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4" name="Google Shape;184;p28"/>
          <p:cNvSpPr txBox="1"/>
          <p:nvPr/>
        </p:nvSpPr>
        <p:spPr>
          <a:xfrm>
            <a:off x="445782" y="3703320"/>
            <a:ext cx="3840582" cy="27432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n" sz="1100" u="none" cap="none" strike="noStrike">
                <a:solidFill>
                  <a:srgbClr val="1B1B1F"/>
                </a:solidFill>
                <a:latin typeface="Calibri"/>
                <a:ea typeface="Calibri"/>
                <a:cs typeface="Calibri"/>
                <a:sym typeface="Calibri"/>
              </a:rPr>
              <a:t>Help needed from instructor:</a:t>
            </a:r>
            <a:endParaRPr sz="1100"/>
          </a:p>
        </p:txBody>
      </p:sp>
      <p:sp>
        <p:nvSpPr>
          <p:cNvPr id="185" name="Google Shape;185;p28"/>
          <p:cNvSpPr txBox="1"/>
          <p:nvPr/>
        </p:nvSpPr>
        <p:spPr>
          <a:xfrm>
            <a:off x="445782" y="3977640"/>
            <a:ext cx="3840600" cy="3663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n" sz="1100" u="none" cap="none" strike="noStrike">
                <a:solidFill>
                  <a:srgbClr val="1B1B1F"/>
                </a:solidFill>
                <a:latin typeface="Calibri"/>
                <a:ea typeface="Calibri"/>
                <a:cs typeface="Calibri"/>
                <a:sym typeface="Calibri"/>
              </a:rPr>
              <a:t>For the writeup's evaluation</a:t>
            </a:r>
            <a:r>
              <a:rPr lang="en" sz="1100">
                <a:solidFill>
                  <a:srgbClr val="1B1B1F"/>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is a small real-classmate pilot required, or is a seeded demo class acceptable evidence?</a:t>
            </a:r>
            <a:endParaRPr sz="1100"/>
          </a:p>
        </p:txBody>
      </p:sp>
      <p:sp>
        <p:nvSpPr>
          <p:cNvPr id="186" name="Google Shape;186;p28"/>
          <p:cNvSpPr/>
          <p:nvPr/>
        </p:nvSpPr>
        <p:spPr>
          <a:xfrm>
            <a:off x="4697855"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28"/>
          <p:cNvSpPr/>
          <p:nvPr/>
        </p:nvSpPr>
        <p:spPr>
          <a:xfrm>
            <a:off x="4697855" y="960120"/>
            <a:ext cx="4114910" cy="377190"/>
          </a:xfrm>
          <a:prstGeom prst="rect">
            <a:avLst/>
          </a:prstGeom>
          <a:solidFill>
            <a:srgbClr val="1F7A3A"/>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8" name="Google Shape;188;p28"/>
          <p:cNvSpPr txBox="1"/>
          <p:nvPr/>
        </p:nvSpPr>
        <p:spPr>
          <a:xfrm>
            <a:off x="4697855"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Next Week's Goals</a:t>
            </a:r>
            <a:endParaRPr sz="1100"/>
          </a:p>
        </p:txBody>
      </p:sp>
      <p:sp>
        <p:nvSpPr>
          <p:cNvPr id="189" name="Google Shape;189;p28"/>
          <p:cNvSpPr txBox="1"/>
          <p:nvPr/>
        </p:nvSpPr>
        <p:spPr>
          <a:xfrm>
            <a:off x="4697855" y="1405890"/>
            <a:ext cx="4114910" cy="3291840"/>
          </a:xfrm>
          <a:prstGeom prst="rect">
            <a:avLst/>
          </a:prstGeom>
          <a:noFill/>
          <a:ln>
            <a:noFill/>
          </a:ln>
        </p:spPr>
        <p:txBody>
          <a:bodyPr anchorCtr="0" anchor="t" bIns="68575" lIns="102875" spcFirstLastPara="1" rIns="102875" wrap="square" tIns="68575">
            <a:spAutoFit/>
          </a:bodyPr>
          <a:lstStyle/>
          <a:p>
            <a:pPr indent="0" lvl="0" marL="0" marR="0" rtl="0" algn="l">
              <a:lnSpc>
                <a:spcPct val="130000"/>
              </a:lnSpc>
              <a:spcBef>
                <a:spcPts val="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Add graders + classmates as sign-in test users (or publish the app)</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Run a small pilot with real classmates on the live site</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Enforce the Canvas-verified instructor gate + finish roster import</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Finalize the writeup, rehearse the final demo</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6" name="Google Shape;196;p29"/>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7" name="Google Shape;197;p29"/>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Individual Contributions</a:t>
            </a:r>
            <a:endParaRPr sz="1100"/>
          </a:p>
        </p:txBody>
      </p:sp>
      <p:sp>
        <p:nvSpPr>
          <p:cNvPr id="198" name="Google Shape;198;p29"/>
          <p:cNvSpPr/>
          <p:nvPr/>
        </p:nvSpPr>
        <p:spPr>
          <a:xfrm>
            <a:off x="411491" y="960120"/>
            <a:ext cx="1783128"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9" name="Google Shape;199;p29"/>
          <p:cNvSpPr txBox="1"/>
          <p:nvPr/>
        </p:nvSpPr>
        <p:spPr>
          <a:xfrm>
            <a:off x="411491" y="960120"/>
            <a:ext cx="1783128"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Student</a:t>
            </a:r>
            <a:endParaRPr sz="1100"/>
          </a:p>
        </p:txBody>
      </p:sp>
      <p:sp>
        <p:nvSpPr>
          <p:cNvPr id="200" name="Google Shape;200;p29"/>
          <p:cNvSpPr/>
          <p:nvPr/>
        </p:nvSpPr>
        <p:spPr>
          <a:xfrm>
            <a:off x="2194619" y="960120"/>
            <a:ext cx="1234473"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1" name="Google Shape;201;p29"/>
          <p:cNvSpPr txBox="1"/>
          <p:nvPr/>
        </p:nvSpPr>
        <p:spPr>
          <a:xfrm>
            <a:off x="2194619" y="960120"/>
            <a:ext cx="1234473"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Hours</a:t>
            </a:r>
            <a:endParaRPr sz="1100"/>
          </a:p>
        </p:txBody>
      </p:sp>
      <p:sp>
        <p:nvSpPr>
          <p:cNvPr id="202" name="Google Shape;202;p29"/>
          <p:cNvSpPr/>
          <p:nvPr/>
        </p:nvSpPr>
        <p:spPr>
          <a:xfrm>
            <a:off x="3429091" y="960120"/>
            <a:ext cx="5692292"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3" name="Google Shape;203;p29"/>
          <p:cNvSpPr txBox="1"/>
          <p:nvPr/>
        </p:nvSpPr>
        <p:spPr>
          <a:xfrm>
            <a:off x="3429091" y="960120"/>
            <a:ext cx="5692292"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What I Worked On This Week</a:t>
            </a:r>
            <a:endParaRPr sz="1100"/>
          </a:p>
        </p:txBody>
      </p:sp>
      <p:sp>
        <p:nvSpPr>
          <p:cNvPr id="204" name="Google Shape;204;p29"/>
          <p:cNvSpPr/>
          <p:nvPr/>
        </p:nvSpPr>
        <p:spPr>
          <a:xfrm>
            <a:off x="411491" y="1337310"/>
            <a:ext cx="1783128"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5" name="Google Shape;205;p29"/>
          <p:cNvSpPr txBox="1"/>
          <p:nvPr/>
        </p:nvSpPr>
        <p:spPr>
          <a:xfrm>
            <a:off x="411491" y="1337310"/>
            <a:ext cx="1783128"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1B1B1F"/>
                </a:solidFill>
                <a:latin typeface="Calibri"/>
                <a:ea typeface="Calibri"/>
                <a:cs typeface="Calibri"/>
                <a:sym typeface="Calibri"/>
              </a:rPr>
              <a:t>Habiba Elswify</a:t>
            </a:r>
            <a:endParaRPr sz="1100"/>
          </a:p>
        </p:txBody>
      </p:sp>
      <p:sp>
        <p:nvSpPr>
          <p:cNvPr id="206" name="Google Shape;206;p29"/>
          <p:cNvSpPr/>
          <p:nvPr/>
        </p:nvSpPr>
        <p:spPr>
          <a:xfrm>
            <a:off x="2194619" y="1337310"/>
            <a:ext cx="1234473"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7" name="Google Shape;207;p29"/>
          <p:cNvSpPr txBox="1"/>
          <p:nvPr/>
        </p:nvSpPr>
        <p:spPr>
          <a:xfrm>
            <a:off x="2194619" y="1337310"/>
            <a:ext cx="1234473"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11 hrs</a:t>
            </a:r>
            <a:endParaRPr sz="1100"/>
          </a:p>
        </p:txBody>
      </p:sp>
      <p:sp>
        <p:nvSpPr>
          <p:cNvPr id="208" name="Google Shape;208;p29"/>
          <p:cNvSpPr/>
          <p:nvPr/>
        </p:nvSpPr>
        <p:spPr>
          <a:xfrm>
            <a:off x="3429091" y="1337310"/>
            <a:ext cx="5692292"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9" name="Google Shape;209;p29"/>
          <p:cNvSpPr txBox="1"/>
          <p:nvPr/>
        </p:nvSpPr>
        <p:spPr>
          <a:xfrm>
            <a:off x="3429091" y="1337310"/>
            <a:ext cx="5692292" cy="925830"/>
          </a:xfrm>
          <a:prstGeom prst="rect">
            <a:avLst/>
          </a:prstGeom>
          <a:noFill/>
          <a:ln>
            <a:noFill/>
          </a:ln>
        </p:spPr>
        <p:txBody>
          <a:bodyPr anchorCtr="0" anchor="ctr" bIns="68575" lIns="102875" spcFirstLastPara="1" rIns="102875" wrap="square" tIns="68575">
            <a:spAutoFit/>
          </a:bodyPr>
          <a:lstStyle/>
          <a:p>
            <a:pPr indent="0" lvl="0" marL="0" marR="0" rtl="0" algn="l">
              <a:lnSpc>
                <a:spcPct val="120000"/>
              </a:lnSpc>
              <a:spcBef>
                <a:spcPts val="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Real backend: Supabase database + security rules, real UW Google login, Python AI service (FastAPI)</a:t>
            </a:r>
            <a:endParaRPr sz="1100"/>
          </a:p>
          <a:p>
            <a:pPr indent="0" lvl="0" marL="0" marR="0" rtl="0" algn="l">
              <a:lnSpc>
                <a:spcPct val="120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Hardened CP-SAT matcher (every student placed) + wired the Next.js app: create event → AI forms teams</a:t>
            </a:r>
            <a:endParaRPr sz="1100"/>
          </a:p>
        </p:txBody>
      </p:sp>
      <p:sp>
        <p:nvSpPr>
          <p:cNvPr id="210" name="Google Shape;210;p29"/>
          <p:cNvSpPr/>
          <p:nvPr/>
        </p:nvSpPr>
        <p:spPr>
          <a:xfrm>
            <a:off x="411491" y="2263140"/>
            <a:ext cx="1783128"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1" name="Google Shape;211;p29"/>
          <p:cNvSpPr txBox="1"/>
          <p:nvPr/>
        </p:nvSpPr>
        <p:spPr>
          <a:xfrm>
            <a:off x="411491" y="2263140"/>
            <a:ext cx="1783128"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1B1B1F"/>
                </a:solidFill>
                <a:latin typeface="Calibri"/>
                <a:ea typeface="Calibri"/>
                <a:cs typeface="Calibri"/>
                <a:sym typeface="Calibri"/>
              </a:rPr>
              <a:t>Aasiya Sathar</a:t>
            </a:r>
            <a:endParaRPr sz="1100"/>
          </a:p>
        </p:txBody>
      </p:sp>
      <p:sp>
        <p:nvSpPr>
          <p:cNvPr id="212" name="Google Shape;212;p29"/>
          <p:cNvSpPr/>
          <p:nvPr/>
        </p:nvSpPr>
        <p:spPr>
          <a:xfrm>
            <a:off x="2194619" y="2263140"/>
            <a:ext cx="1234473"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29"/>
          <p:cNvSpPr txBox="1"/>
          <p:nvPr/>
        </p:nvSpPr>
        <p:spPr>
          <a:xfrm>
            <a:off x="2194619" y="2263140"/>
            <a:ext cx="1234473"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7 hrs</a:t>
            </a:r>
            <a:endParaRPr sz="1100"/>
          </a:p>
        </p:txBody>
      </p:sp>
      <p:sp>
        <p:nvSpPr>
          <p:cNvPr id="214" name="Google Shape;214;p29"/>
          <p:cNvSpPr/>
          <p:nvPr/>
        </p:nvSpPr>
        <p:spPr>
          <a:xfrm>
            <a:off x="3429091" y="2263140"/>
            <a:ext cx="5692292"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5" name="Google Shape;215;p29"/>
          <p:cNvSpPr txBox="1"/>
          <p:nvPr/>
        </p:nvSpPr>
        <p:spPr>
          <a:xfrm>
            <a:off x="3429091" y="2263140"/>
            <a:ext cx="5692292" cy="925830"/>
          </a:xfrm>
          <a:prstGeom prst="rect">
            <a:avLst/>
          </a:prstGeom>
          <a:noFill/>
          <a:ln>
            <a:noFill/>
          </a:ln>
        </p:spPr>
        <p:txBody>
          <a:bodyPr anchorCtr="0" anchor="ctr" bIns="68575" lIns="102875" spcFirstLastPara="1" rIns="102875" wrap="square" tIns="68575">
            <a:spAutoFit/>
          </a:bodyPr>
          <a:lstStyle/>
          <a:p>
            <a:pPr indent="0" lvl="0" marL="0" marR="0" rtl="0" algn="l">
              <a:lnSpc>
                <a:spcPct val="120000"/>
              </a:lnSpc>
              <a:spcBef>
                <a:spcPts val="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Profile schema → DB tables; matches/teams UI review; rating + reputation screen design</a:t>
            </a:r>
            <a:endParaRPr sz="1100"/>
          </a:p>
          <a:p>
            <a:pPr indent="0" lvl="0" marL="0" marR="0" rtl="0" algn="l">
              <a:lnSpc>
                <a:spcPct val="120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Test-class data + demo walkthrough script; writeup draft (architecture + privacy sections)</a:t>
            </a:r>
            <a:endParaRPr sz="1100"/>
          </a:p>
        </p:txBody>
      </p:sp>
      <p:sp>
        <p:nvSpPr>
          <p:cNvPr id="216" name="Google Shape;216;p29"/>
          <p:cNvSpPr/>
          <p:nvPr/>
        </p:nvSpPr>
        <p:spPr>
          <a:xfrm>
            <a:off x="411491" y="3326130"/>
            <a:ext cx="8709892" cy="377190"/>
          </a:xfrm>
          <a:prstGeom prst="rect">
            <a:avLst/>
          </a:prstGeom>
          <a:solidFill>
            <a:srgbClr val="FFC83D"/>
          </a:solidFill>
          <a:ln cap="flat" cmpd="sng" w="1905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7" name="Google Shape;217;p29"/>
          <p:cNvSpPr txBox="1"/>
          <p:nvPr/>
        </p:nvSpPr>
        <p:spPr>
          <a:xfrm>
            <a:off x="411491" y="3326130"/>
            <a:ext cx="8709892"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200" u="none" cap="none" strike="noStrike">
                <a:solidFill>
                  <a:srgbClr val="32235F"/>
                </a:solidFill>
                <a:latin typeface="Calibri"/>
                <a:ea typeface="Calibri"/>
                <a:cs typeface="Calibri"/>
                <a:sym typeface="Calibri"/>
              </a:rPr>
              <a:t>Team total this week:  18 hrs    (target: 5–10 hrs per person  ✓)</a:t>
            </a:r>
            <a:endParaRPr sz="1100"/>
          </a:p>
        </p:txBody>
      </p:sp>
      <p:sp>
        <p:nvSpPr>
          <p:cNvPr id="218" name="Google Shape;218;p29"/>
          <p:cNvSpPr/>
          <p:nvPr/>
        </p:nvSpPr>
        <p:spPr>
          <a:xfrm>
            <a:off x="411491" y="3806190"/>
            <a:ext cx="8709892" cy="30861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9" name="Google Shape;219;p29"/>
          <p:cNvSpPr txBox="1"/>
          <p:nvPr/>
        </p:nvSpPr>
        <p:spPr>
          <a:xfrm>
            <a:off x="411491" y="3806190"/>
            <a:ext cx="8709892" cy="30861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4A4A55"/>
                </a:solidFill>
                <a:latin typeface="Calibri"/>
                <a:ea typeface="Calibri"/>
                <a:cs typeface="Calibri"/>
                <a:sym typeface="Calibri"/>
              </a:rPr>
              <a:t>Cumulative team hours to date:   49 hrs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