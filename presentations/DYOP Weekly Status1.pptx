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fe247cb6_2_7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e7fe247cb6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 — we're DYOP Group 4. I'm Habiba, this is Aasiya. Our project is PackPair: an AI-powered team-formation web app for UW. This is our Week 1 status update — what we planned, what we built, what's blocking us, and what's next. (~15s)</a:t>
            </a:r>
            <a:endParaRPr/>
          </a:p>
        </p:txBody>
      </p:sp>
      <p:sp>
        <p:nvSpPr>
          <p:cNvPr id="128" name="Google Shape;128;g3e7fe247cb6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7fe247cb6_2_91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e7fe247cb6_2_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in we planned five things — finalize the proposal, lock the stack, design the profile schema, build mockups, and prototype the matcher. We hit all five. The proposal scored 5/5; the feedback we got — about cold-start and anti-gaming — is now on our roadmap. Stack is Next.js plus Supabase plus a Python solver service. And the prototype works end-to-end on mock data — 12 students into 4 teams in about a tenth of a second. (~40s)</a:t>
            </a:r>
            <a:endParaRPr/>
          </a:p>
        </p:txBody>
      </p:sp>
      <p:sp>
        <p:nvSpPr>
          <p:cNvPr id="144" name="Google Shape;144;g3e7fe247cb6_2_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7fe247cb6_2_106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e7fe247cb6_2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Here's the demo. On screen is our matches page — the user sees four AI-formed teams, each with the rationale: skills covered, schedule overlap, shared interest. Under the hood, our prototype enumerates every valid partition of the roster — 15,400 of them — and picks the one that maximizes our weighted objective: skill diversity plus schedule overlap plus comm-style fit. At our pilot class size full enumeration is fast enough to be exact; production swaps in OR-Tools CP-SAT to scale up. Three AI layers behind the front end — search, Bayesian reputation, supervised prediction. (~50s)</a:t>
            </a:r>
            <a:endParaRPr/>
          </a:p>
        </p:txBody>
      </p:sp>
      <p:sp>
        <p:nvSpPr>
          <p:cNvPr id="160" name="Google Shape;160;g3e7fe247cb6_2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7fe247cb6_2_120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e7fe247cb6_2_1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real blockers came out of the proposal feedback, plus one institutional one. First, cold-start: reputation model has zero data until students rate each other — addressed with a neutral Bayesian prior that updates as ratings arrive. Second, anti-gaming: three-person ratings are re-identifiable, so we're moving to k-anonymity aggregated over a rolling window. Third blocker — NetID test access for real auth — isn't in our hands, that's where we could use your help. Next week we ship the first vertical slice: profile form, real solver call, team display. (~45s)</a:t>
            </a:r>
            <a:endParaRPr/>
          </a:p>
        </p:txBody>
      </p:sp>
      <p:sp>
        <p:nvSpPr>
          <p:cNvPr id="175" name="Google Shape;175;g3e7fe247cb6_2_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fe247cb6_2_138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e7fe247cb6_2_1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split: I built the CSP prototype and the architecture spec. Aasiya designed the profile schema and the hi-fi mockups, and led the triage of the proposal feedback into our backlog. Seven hours each, fourteen for the team. Thanks — happy to take questions. (~30s)</a:t>
            </a:r>
            <a:endParaRPr/>
          </a:p>
        </p:txBody>
      </p:sp>
      <p:sp>
        <p:nvSpPr>
          <p:cNvPr id="194" name="Google Shape;194;g3e7fe247cb6_2_1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habibaelswify.github.io/packpair-demo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0" y="0"/>
            <a:ext cx="9144015" cy="318897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0" y="3188970"/>
            <a:ext cx="9144015" cy="96012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1371637" y="514350"/>
            <a:ext cx="6378110" cy="1508760"/>
          </a:xfrm>
          <a:prstGeom prst="rect">
            <a:avLst/>
          </a:prstGeom>
          <a:solidFill>
            <a:srgbClr val="4B2E83"/>
          </a:solidFill>
          <a:ln cap="flat" cmpd="sng" w="12700">
            <a:solidFill>
              <a:srgbClr val="6E5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371637" y="514350"/>
            <a:ext cx="63781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PackPair</a:t>
            </a:r>
            <a:endParaRPr sz="1100"/>
          </a:p>
        </p:txBody>
      </p:sp>
      <p:sp>
        <p:nvSpPr>
          <p:cNvPr id="134" name="Google Shape;134;p25"/>
          <p:cNvSpPr/>
          <p:nvPr/>
        </p:nvSpPr>
        <p:spPr>
          <a:xfrm>
            <a:off x="1371637" y="2091690"/>
            <a:ext cx="6378110" cy="377190"/>
          </a:xfrm>
          <a:prstGeom prst="rect">
            <a:avLst/>
          </a:prstGeom>
          <a:solidFill>
            <a:srgbClr val="4B2E83"/>
          </a:solidFill>
          <a:ln cap="flat" cmpd="sng" w="12700">
            <a:solidFill>
              <a:srgbClr val="6E5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1371637" y="2091690"/>
            <a:ext cx="63781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C83D"/>
                </a:solidFill>
                <a:latin typeface="Calibri"/>
                <a:ea typeface="Calibri"/>
                <a:cs typeface="Calibri"/>
                <a:sym typeface="Calibri"/>
              </a:rPr>
              <a:t>DYOP Final Project   |   University of Washington</a:t>
            </a:r>
            <a:endParaRPr sz="1100"/>
          </a:p>
        </p:txBody>
      </p:sp>
      <p:sp>
        <p:nvSpPr>
          <p:cNvPr id="136" name="Google Shape;136;p25"/>
          <p:cNvSpPr/>
          <p:nvPr/>
        </p:nvSpPr>
        <p:spPr>
          <a:xfrm>
            <a:off x="3291928" y="2571750"/>
            <a:ext cx="2537528" cy="480060"/>
          </a:xfrm>
          <a:prstGeom prst="rect">
            <a:avLst/>
          </a:prstGeom>
          <a:solidFill>
            <a:srgbClr val="FFC83D"/>
          </a:solidFill>
          <a:ln cap="flat" cmpd="sng" w="12700">
            <a:solidFill>
              <a:srgbClr val="322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3291928" y="2571750"/>
            <a:ext cx="2537528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2235F"/>
                </a:solidFill>
                <a:latin typeface="Calibri"/>
                <a:ea typeface="Calibri"/>
                <a:cs typeface="Calibri"/>
                <a:sym typeface="Calibri"/>
              </a:rPr>
              <a:t>Week 1 Status Update</a:t>
            </a:r>
            <a:endParaRPr sz="1100"/>
          </a:p>
        </p:txBody>
      </p:sp>
      <p:sp>
        <p:nvSpPr>
          <p:cNvPr id="138" name="Google Shape;138;p25"/>
          <p:cNvSpPr/>
          <p:nvPr/>
        </p:nvSpPr>
        <p:spPr>
          <a:xfrm>
            <a:off x="1234473" y="3600450"/>
            <a:ext cx="6652437" cy="126873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1234473" y="3669030"/>
            <a:ext cx="66524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1100"/>
          </a:p>
        </p:txBody>
      </p:sp>
      <p:sp>
        <p:nvSpPr>
          <p:cNvPr id="140" name="Google Shape;140;p25"/>
          <p:cNvSpPr txBox="1"/>
          <p:nvPr/>
        </p:nvSpPr>
        <p:spPr>
          <a:xfrm>
            <a:off x="1234473" y="4114800"/>
            <a:ext cx="6652437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Habiba Elswify        Aasiya Sathar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/>
          <p:nvPr/>
        </p:nvSpPr>
        <p:spPr>
          <a:xfrm>
            <a:off x="0" y="0"/>
            <a:ext cx="9144015" cy="65151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0" y="651510"/>
            <a:ext cx="9144015" cy="68580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0" y="68580"/>
            <a:ext cx="91440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Week: Planned vs. Done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308618" y="960120"/>
            <a:ext cx="4114910" cy="384048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308618" y="960120"/>
            <a:ext cx="4114910" cy="377190"/>
          </a:xfrm>
          <a:prstGeom prst="rect">
            <a:avLst/>
          </a:prstGeom>
          <a:solidFill>
            <a:srgbClr val="4B2E83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308618" y="960120"/>
            <a:ext cx="41149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308618" y="1405890"/>
            <a:ext cx="411491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Finalize proposal &amp; address AI feedback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Lock tech stack &amp; system architecture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Design student profile schema (skills, schedule, comm style, interests)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Build hi-fi mockups for profile + matches pages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Prototype the CSP team matcher with mock data</a:t>
            </a:r>
            <a:endParaRPr sz="1100"/>
          </a:p>
        </p:txBody>
      </p:sp>
      <p:sp>
        <p:nvSpPr>
          <p:cNvPr id="153" name="Google Shape;153;p26"/>
          <p:cNvSpPr/>
          <p:nvPr/>
        </p:nvSpPr>
        <p:spPr>
          <a:xfrm>
            <a:off x="4697855" y="960120"/>
            <a:ext cx="4114910" cy="384048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4697855" y="960120"/>
            <a:ext cx="4114910" cy="377190"/>
          </a:xfrm>
          <a:prstGeom prst="rect">
            <a:avLst/>
          </a:prstGeom>
          <a:solidFill>
            <a:srgbClr val="4B2E83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4697855" y="960120"/>
            <a:ext cx="41149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1100"/>
          </a:p>
        </p:txBody>
      </p:sp>
      <p:sp>
        <p:nvSpPr>
          <p:cNvPr id="156" name="Google Shape;156;p26"/>
          <p:cNvSpPr txBox="1"/>
          <p:nvPr/>
        </p:nvSpPr>
        <p:spPr>
          <a:xfrm>
            <a:off x="4697855" y="1405890"/>
            <a:ext cx="411491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Proposal accepted </a:t>
            </a:r>
            <a:r>
              <a:rPr b="1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5/5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— feedback queued (cold-start, anti-gaming)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Stack: </a:t>
            </a:r>
            <a:r>
              <a:rPr b="1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Next.js + Supabase + Python solver microservice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Profile schema v1 — 9 fields, mapped to feature vectors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Hi-fi mockups complete: landing, profile, results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Working CSP prototype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— 12 students → 4 teams in ~120 ms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/>
        </p:nvSpPr>
        <p:spPr>
          <a:xfrm>
            <a:off x="0" y="0"/>
            <a:ext cx="9144015" cy="65151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0" y="651510"/>
            <a:ext cx="9144015" cy="68580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0" y="68580"/>
            <a:ext cx="91440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 / Demo</a:t>
            </a:r>
            <a:endParaRPr sz="1100"/>
          </a:p>
        </p:txBody>
      </p:sp>
      <p:sp>
        <p:nvSpPr>
          <p:cNvPr id="165" name="Google Shape;165;p27"/>
          <p:cNvSpPr/>
          <p:nvPr/>
        </p:nvSpPr>
        <p:spPr>
          <a:xfrm>
            <a:off x="308618" y="960120"/>
            <a:ext cx="6069492" cy="34290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up.png" id="166" name="Google Shape;1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138" y="996925"/>
            <a:ext cx="4590450" cy="335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/>
          <p:nvPr/>
        </p:nvSpPr>
        <p:spPr>
          <a:xfrm>
            <a:off x="308618" y="4526280"/>
            <a:ext cx="6069492" cy="377190"/>
          </a:xfrm>
          <a:prstGeom prst="rect">
            <a:avLst/>
          </a:prstGeom>
          <a:solidFill>
            <a:srgbClr val="FFC83D"/>
          </a:solidFill>
          <a:ln cap="flat" cmpd="sng" w="19050">
            <a:solidFill>
              <a:srgbClr val="322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308618" y="4526280"/>
            <a:ext cx="60694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68575" spcFirstLastPara="1" rIns="685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2235F"/>
                </a:solidFill>
                <a:latin typeface="Calibri"/>
                <a:ea typeface="Calibri"/>
                <a:cs typeface="Calibri"/>
                <a:sym typeface="Calibri"/>
              </a:rPr>
              <a:t>Live demo  →  </a:t>
            </a:r>
            <a:r>
              <a:rPr b="1" i="0" lang="en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https://habibaelswify.github.io/packpair-demo/</a:t>
            </a:r>
            <a:endParaRPr sz="1100"/>
          </a:p>
        </p:txBody>
      </p:sp>
      <p:sp>
        <p:nvSpPr>
          <p:cNvPr id="169" name="Google Shape;169;p27"/>
          <p:cNvSpPr/>
          <p:nvPr/>
        </p:nvSpPr>
        <p:spPr>
          <a:xfrm>
            <a:off x="6549565" y="960120"/>
            <a:ext cx="2297491" cy="394335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6549565" y="1062990"/>
            <a:ext cx="22974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Key highlights</a:t>
            </a:r>
            <a:endParaRPr sz="1100"/>
          </a:p>
        </p:txBody>
      </p:sp>
      <p:sp>
        <p:nvSpPr>
          <p:cNvPr id="171" name="Google Shape;171;p27"/>
          <p:cNvSpPr txBox="1"/>
          <p:nvPr/>
        </p:nvSpPr>
        <p:spPr>
          <a:xfrm>
            <a:off x="6549565" y="1440180"/>
            <a:ext cx="229749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Hi-fi </a:t>
            </a:r>
            <a:r>
              <a:rPr b="1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matches page</a:t>
            </a:r>
            <a:r>
              <a:rPr b="0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live at the URL below — UW branding + per-team AI rationale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CSP solver scores on </a:t>
            </a:r>
            <a:r>
              <a:rPr b="1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skill diversity + schedule overlap + comm fit</a:t>
            </a:r>
            <a:r>
              <a:rPr b="0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— exact optimum over 15,400 partitions in ~120 ms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Three-layer AI</a:t>
            </a:r>
            <a:r>
              <a:rPr b="0" i="0" lang="en" sz="10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locked in: search (CSP) → Bayesian reputation → supervised team-success prediction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/>
          <p:nvPr/>
        </p:nvSpPr>
        <p:spPr>
          <a:xfrm>
            <a:off x="0" y="0"/>
            <a:ext cx="9144015" cy="65151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0" y="651510"/>
            <a:ext cx="9144015" cy="68580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0" y="68580"/>
            <a:ext cx="91440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Blockers &amp; Next Week's Plan</a:t>
            </a:r>
            <a:endParaRPr sz="1100"/>
          </a:p>
        </p:txBody>
      </p:sp>
      <p:sp>
        <p:nvSpPr>
          <p:cNvPr id="180" name="Google Shape;180;p28"/>
          <p:cNvSpPr/>
          <p:nvPr/>
        </p:nvSpPr>
        <p:spPr>
          <a:xfrm>
            <a:off x="308618" y="960120"/>
            <a:ext cx="4114910" cy="253746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308618" y="960120"/>
            <a:ext cx="4114910" cy="377190"/>
          </a:xfrm>
          <a:prstGeom prst="rect">
            <a:avLst/>
          </a:prstGeom>
          <a:solidFill>
            <a:srgbClr val="B71C1C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308618" y="960120"/>
            <a:ext cx="41149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Blockers / Risks</a:t>
            </a:r>
            <a:endParaRPr sz="1100"/>
          </a:p>
        </p:txBody>
      </p:sp>
      <p:sp>
        <p:nvSpPr>
          <p:cNvPr id="183" name="Google Shape;183;p28"/>
          <p:cNvSpPr txBox="1"/>
          <p:nvPr/>
        </p:nvSpPr>
        <p:spPr>
          <a:xfrm>
            <a:off x="308618" y="1405890"/>
            <a:ext cx="411491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Cold-start:</a:t>
            </a: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reputation model has no rating data on day one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Anti-gaming:</a:t>
            </a: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3-person team ratings are re-identifiable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UW NetID auth:</a:t>
            </a: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 institutional approval timeline unclear</a:t>
            </a:r>
            <a:endParaRPr sz="1100"/>
          </a:p>
        </p:txBody>
      </p:sp>
      <p:sp>
        <p:nvSpPr>
          <p:cNvPr id="184" name="Google Shape;184;p28"/>
          <p:cNvSpPr/>
          <p:nvPr/>
        </p:nvSpPr>
        <p:spPr>
          <a:xfrm>
            <a:off x="308618" y="3600450"/>
            <a:ext cx="4114910" cy="1165860"/>
          </a:xfrm>
          <a:prstGeom prst="rect">
            <a:avLst/>
          </a:prstGeom>
          <a:solidFill>
            <a:srgbClr val="FCE4C2"/>
          </a:solidFill>
          <a:ln cap="flat" cmpd="sng" w="25400">
            <a:solidFill>
              <a:srgbClr val="FFC8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45782" y="3703320"/>
            <a:ext cx="3840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Help needed from instructor:</a:t>
            </a:r>
            <a:endParaRPr sz="1100"/>
          </a:p>
        </p:txBody>
      </p:sp>
      <p:sp>
        <p:nvSpPr>
          <p:cNvPr id="186" name="Google Shape;186;p28"/>
          <p:cNvSpPr txBox="1"/>
          <p:nvPr/>
        </p:nvSpPr>
        <p:spPr>
          <a:xfrm>
            <a:off x="445782" y="3977640"/>
            <a:ext cx="3840582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A contact at UW IT for Shibboleth / NetID test credentials, or guidance on the right intake process.</a:t>
            </a:r>
            <a:endParaRPr sz="1100"/>
          </a:p>
        </p:txBody>
      </p:sp>
      <p:sp>
        <p:nvSpPr>
          <p:cNvPr id="187" name="Google Shape;187;p28"/>
          <p:cNvSpPr/>
          <p:nvPr/>
        </p:nvSpPr>
        <p:spPr>
          <a:xfrm>
            <a:off x="4697855" y="960120"/>
            <a:ext cx="4114910" cy="384048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4697855" y="960120"/>
            <a:ext cx="4114910" cy="377190"/>
          </a:xfrm>
          <a:prstGeom prst="rect">
            <a:avLst/>
          </a:prstGeom>
          <a:solidFill>
            <a:srgbClr val="1F7A3A"/>
          </a:solidFill>
          <a:ln cap="flat" cmpd="sng" w="254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4697855" y="960120"/>
            <a:ext cx="411491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Week's Goals</a:t>
            </a:r>
            <a:endParaRPr sz="1100"/>
          </a:p>
        </p:txBody>
      </p:sp>
      <p:sp>
        <p:nvSpPr>
          <p:cNvPr id="190" name="Google Shape;190;p28"/>
          <p:cNvSpPr txBox="1"/>
          <p:nvPr/>
        </p:nvSpPr>
        <p:spPr>
          <a:xfrm>
            <a:off x="4697855" y="1405890"/>
            <a:ext cx="411491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02875" spcFirstLastPara="1" rIns="102875" wrap="square" tIns="685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Bayesian reputation prior (neutral Beta per dimension) for new students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k-anonymity rolling aggregates as anti-gaming mitigation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Supabase schema + mock SSO standing up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2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First end-to-end slice: profile form → solver → team display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/>
          <p:nvPr/>
        </p:nvSpPr>
        <p:spPr>
          <a:xfrm>
            <a:off x="0" y="0"/>
            <a:ext cx="9144015" cy="65151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/>
          <p:nvPr/>
        </p:nvSpPr>
        <p:spPr>
          <a:xfrm>
            <a:off x="0" y="651510"/>
            <a:ext cx="9144015" cy="68580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0" y="68580"/>
            <a:ext cx="91440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 Contributions</a:t>
            </a:r>
            <a:endParaRPr sz="1100"/>
          </a:p>
        </p:txBody>
      </p:sp>
      <p:sp>
        <p:nvSpPr>
          <p:cNvPr id="199" name="Google Shape;199;p29"/>
          <p:cNvSpPr/>
          <p:nvPr/>
        </p:nvSpPr>
        <p:spPr>
          <a:xfrm>
            <a:off x="411491" y="960120"/>
            <a:ext cx="1783128" cy="377190"/>
          </a:xfrm>
          <a:prstGeom prst="rect">
            <a:avLst/>
          </a:prstGeom>
          <a:solidFill>
            <a:srgbClr val="4B2E83"/>
          </a:solidFill>
          <a:ln cap="flat" cmpd="sng" w="1905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411491" y="960120"/>
            <a:ext cx="17831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100"/>
          </a:p>
        </p:txBody>
      </p:sp>
      <p:sp>
        <p:nvSpPr>
          <p:cNvPr id="201" name="Google Shape;201;p29"/>
          <p:cNvSpPr/>
          <p:nvPr/>
        </p:nvSpPr>
        <p:spPr>
          <a:xfrm>
            <a:off x="2194619" y="960120"/>
            <a:ext cx="1234473" cy="377190"/>
          </a:xfrm>
          <a:prstGeom prst="rect">
            <a:avLst/>
          </a:prstGeom>
          <a:solidFill>
            <a:srgbClr val="4B2E83"/>
          </a:solidFill>
          <a:ln cap="flat" cmpd="sng" w="1905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2194619" y="960120"/>
            <a:ext cx="1234473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Hours</a:t>
            </a:r>
            <a:endParaRPr sz="1100"/>
          </a:p>
        </p:txBody>
      </p:sp>
      <p:sp>
        <p:nvSpPr>
          <p:cNvPr id="203" name="Google Shape;203;p29"/>
          <p:cNvSpPr/>
          <p:nvPr/>
        </p:nvSpPr>
        <p:spPr>
          <a:xfrm>
            <a:off x="3429091" y="960120"/>
            <a:ext cx="5692292" cy="377190"/>
          </a:xfrm>
          <a:prstGeom prst="rect">
            <a:avLst/>
          </a:prstGeom>
          <a:solidFill>
            <a:srgbClr val="4B2E83"/>
          </a:solidFill>
          <a:ln cap="flat" cmpd="sng" w="1905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3429091" y="960120"/>
            <a:ext cx="56922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 Worked On This Week</a:t>
            </a:r>
            <a:endParaRPr sz="1100"/>
          </a:p>
        </p:txBody>
      </p:sp>
      <p:sp>
        <p:nvSpPr>
          <p:cNvPr id="205" name="Google Shape;205;p29"/>
          <p:cNvSpPr/>
          <p:nvPr/>
        </p:nvSpPr>
        <p:spPr>
          <a:xfrm>
            <a:off x="411491" y="1337310"/>
            <a:ext cx="1783128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 txBox="1"/>
          <p:nvPr/>
        </p:nvSpPr>
        <p:spPr>
          <a:xfrm>
            <a:off x="411491" y="1337310"/>
            <a:ext cx="17831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Habiba Elswify</a:t>
            </a:r>
            <a:endParaRPr sz="1100"/>
          </a:p>
        </p:txBody>
      </p:sp>
      <p:sp>
        <p:nvSpPr>
          <p:cNvPr id="207" name="Google Shape;207;p29"/>
          <p:cNvSpPr/>
          <p:nvPr/>
        </p:nvSpPr>
        <p:spPr>
          <a:xfrm>
            <a:off x="2194619" y="1337310"/>
            <a:ext cx="1234473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2194619" y="1337310"/>
            <a:ext cx="123447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2235F"/>
                </a:solidFill>
                <a:latin typeface="Calibri"/>
                <a:ea typeface="Calibri"/>
                <a:cs typeface="Calibri"/>
                <a:sym typeface="Calibri"/>
              </a:rPr>
              <a:t>7 hrs</a:t>
            </a:r>
            <a:endParaRPr sz="1100"/>
          </a:p>
        </p:txBody>
      </p:sp>
      <p:sp>
        <p:nvSpPr>
          <p:cNvPr id="209" name="Google Shape;209;p29"/>
          <p:cNvSpPr/>
          <p:nvPr/>
        </p:nvSpPr>
        <p:spPr>
          <a:xfrm>
            <a:off x="3429091" y="1337310"/>
            <a:ext cx="5692292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3429091" y="1337310"/>
            <a:ext cx="56922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02875" spcFirstLastPara="1" rIns="102875" wrap="square" tIns="685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CSP team-matcher prototype (Python, full-enumeration solver)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System architecture spec + tech-stack decisions</a:t>
            </a:r>
            <a:endParaRPr sz="1100"/>
          </a:p>
        </p:txBody>
      </p:sp>
      <p:sp>
        <p:nvSpPr>
          <p:cNvPr id="211" name="Google Shape;211;p29"/>
          <p:cNvSpPr/>
          <p:nvPr/>
        </p:nvSpPr>
        <p:spPr>
          <a:xfrm>
            <a:off x="411491" y="2160270"/>
            <a:ext cx="1783128" cy="822960"/>
          </a:xfrm>
          <a:prstGeom prst="rect">
            <a:avLst/>
          </a:prstGeom>
          <a:solidFill>
            <a:srgbClr val="EFEFEF"/>
          </a:solidFill>
          <a:ln cap="flat" cmpd="sng" w="127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11491" y="2160270"/>
            <a:ext cx="17831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Aasiya Sathar</a:t>
            </a:r>
            <a:endParaRPr sz="1100"/>
          </a:p>
        </p:txBody>
      </p:sp>
      <p:sp>
        <p:nvSpPr>
          <p:cNvPr id="213" name="Google Shape;213;p29"/>
          <p:cNvSpPr/>
          <p:nvPr/>
        </p:nvSpPr>
        <p:spPr>
          <a:xfrm>
            <a:off x="2194619" y="2160270"/>
            <a:ext cx="1234473" cy="822960"/>
          </a:xfrm>
          <a:prstGeom prst="rect">
            <a:avLst/>
          </a:prstGeom>
          <a:solidFill>
            <a:srgbClr val="EFEFEF"/>
          </a:solidFill>
          <a:ln cap="flat" cmpd="sng" w="127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2194619" y="2160270"/>
            <a:ext cx="123447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32235F"/>
                </a:solidFill>
                <a:latin typeface="Calibri"/>
                <a:ea typeface="Calibri"/>
                <a:cs typeface="Calibri"/>
                <a:sym typeface="Calibri"/>
              </a:rPr>
              <a:t>7 hrs</a:t>
            </a:r>
            <a:endParaRPr sz="1100"/>
          </a:p>
        </p:txBody>
      </p:sp>
      <p:sp>
        <p:nvSpPr>
          <p:cNvPr id="215" name="Google Shape;215;p29"/>
          <p:cNvSpPr/>
          <p:nvPr/>
        </p:nvSpPr>
        <p:spPr>
          <a:xfrm>
            <a:off x="3429091" y="2160270"/>
            <a:ext cx="5692292" cy="822960"/>
          </a:xfrm>
          <a:prstGeom prst="rect">
            <a:avLst/>
          </a:prstGeom>
          <a:solidFill>
            <a:srgbClr val="EFEFEF"/>
          </a:solidFill>
          <a:ln cap="flat" cmpd="sng" w="127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3429091" y="2160270"/>
            <a:ext cx="56922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02875" spcFirstLastPara="1" rIns="102875" wrap="square" tIns="685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Profile schema design (9 fields → feature vectors)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" sz="110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Hi-fi mockups (landing, profile, matches) + AI-feedback triage</a:t>
            </a:r>
            <a:endParaRPr sz="1100"/>
          </a:p>
        </p:txBody>
      </p:sp>
      <p:sp>
        <p:nvSpPr>
          <p:cNvPr id="217" name="Google Shape;217;p29"/>
          <p:cNvSpPr/>
          <p:nvPr/>
        </p:nvSpPr>
        <p:spPr>
          <a:xfrm>
            <a:off x="411491" y="3120390"/>
            <a:ext cx="8709892" cy="377190"/>
          </a:xfrm>
          <a:prstGeom prst="rect">
            <a:avLst/>
          </a:prstGeom>
          <a:solidFill>
            <a:srgbClr val="FFC83D"/>
          </a:solidFill>
          <a:ln cap="flat" cmpd="sng" w="19050">
            <a:solidFill>
              <a:srgbClr val="3223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411491" y="3120390"/>
            <a:ext cx="87098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32235F"/>
                </a:solidFill>
                <a:latin typeface="Calibri"/>
                <a:ea typeface="Calibri"/>
                <a:cs typeface="Calibri"/>
                <a:sym typeface="Calibri"/>
              </a:rPr>
              <a:t>Team total this week:  14 hrs    (target: 5–10 hrs per person  ✓)</a:t>
            </a:r>
            <a:endParaRPr sz="1100"/>
          </a:p>
        </p:txBody>
      </p:sp>
      <p:sp>
        <p:nvSpPr>
          <p:cNvPr id="219" name="Google Shape;219;p29"/>
          <p:cNvSpPr/>
          <p:nvPr/>
        </p:nvSpPr>
        <p:spPr>
          <a:xfrm>
            <a:off x="411491" y="3600450"/>
            <a:ext cx="8709892" cy="30861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B2E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411491" y="3600450"/>
            <a:ext cx="8709892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4A4A55"/>
                </a:solidFill>
                <a:latin typeface="Calibri"/>
                <a:ea typeface="Calibri"/>
                <a:cs typeface="Calibri"/>
                <a:sym typeface="Calibri"/>
              </a:rPr>
              <a:t>Cumulative team hours to date:   14 hrs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