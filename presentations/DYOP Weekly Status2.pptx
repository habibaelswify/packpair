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97032112f_1_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e97032112f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HABIBA — entire slide (~25 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We're DYOP Group 4 — PackPair, the AI-powered team-formation web app for UW. Quick refresher on the goal: in every UW class with group projects, students either pick friends — which clusters strong students together — or instructors randomize, which mismatches skills and schedules. PackPair fixes this with three AI layers: constraint-satisfaction search for team assignment, Bayesian reputation that learns from peer ratings, and supervised team-success prediction. This is our Week 2 status — the week we turned last week's prototype into a working end-to-end system.</a:t>
            </a:r>
            <a:endParaRPr/>
          </a:p>
        </p:txBody>
      </p:sp>
      <p:sp>
        <p:nvSpPr>
          <p:cNvPr id="128" name="Google Shape;128;g3e97032112f_1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34c128fd3_6_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g3e34c128fd3_6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AASIYA — entire slide (~35 s). Each Done bullet is the next iteration of a Week 1 bullet — read each one left-to-right: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our matcher could only handle around twelve students before slowing down. This week we swapped in a real constraint solver — it handles a thirty-student class in about ten seconds. That's the realistic UW class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the AI feedback on our proposal flagged two risks — cold-start and rating manipulation. Both are now fixed in code: new students start at a neutral reputation that gets sharper as ratings come in, and we suppress any rating average that's based on too few people, so individual raters can't be reverse-identified.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the matches page was a static screenshot. This week the whole thing is an interactive four-step product live online — build a profile, see your team, rate your teammates, watch your reputation update.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 UW login problem we raised last week — your tip about using Google sign-in restricted to uw.edu — that's in the product now too, no UW IT involvement needed.</a:t>
            </a:r>
            <a:endParaRPr/>
          </a:p>
        </p:txBody>
      </p:sp>
      <p:sp>
        <p:nvSpPr>
          <p:cNvPr id="146" name="Google Shape;146;g3e34c128fd3_6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34c128fd3_4_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g3e34c128fd3_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HABIBA — entire slide (~60 s). Open the URL pill live in the browser; the screenshot is a preview of step 2. Walk through it as a real product, not a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week we showed a static matches page. This week PackPair is an interactive product — four-step workflow, all live in the browser at the URL on this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 1 — Build your profile. The user picks skills, topic interests, availability blocks, and a comm style. That's the feature vector our solver takes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 2 — your AI-formed teams [this is what's on screen]. CP-SAT places the user with the two strongest-fit teammates from an 11-student pool, then partitions the remaining nine into three more teams. Notice the reputation badges next to each name: Alex Chen 3.9 stars over 12 ratings, Jordan Kim 4.1 stars over 14. Now look at Team 3: Ethan Wright and Sara Ahmed show italic 'new (n=4)' and 'new (n=3)' — that's the k-anonymity guard suppressing the badge because fewer than 5 ratings sit behind it. The anti-gaming mitigation is visible to the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 3 — after the project, the user rates each teammate on three dimensions: participation, communication, technical. 1–5 stars, anonymous.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 4 — those ratings feed the Bayesian reputation model in real time. The page plots the Beta posterior before and after — dashed for the prior, solid purple for the updated posterior — and shows the mean shift and the new α, β. That's the cold-start mitigation: every student starts at Beta(1,1) and the curve tightens as evidence arrives.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Three AI techniques: CSP search (CP-SAT) on Step 2, Bayesian reputation on Step 4, k-anonymity guard visible across Steps 2 and 4. Same URL the class can try themselves.</a:t>
            </a:r>
            <a:endParaRPr/>
          </a:p>
        </p:txBody>
      </p:sp>
      <p:sp>
        <p:nvSpPr>
          <p:cNvPr id="162" name="Google Shape;162;g3e34c128fd3_4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34c128fd3_8_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g3e34c128fd3_8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AASIYA — entire slide (~30 s). Honest read: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Three open items. First, the web app's backend isn't live yet — right now the matcher runs in the browser, which is fine for the demo but not the real product. Wiring up the database and the Python backend is next week's main job. Second, the UW sign-in screen is currently a simulation — your suggestion about Google with the uw.edu restriction is what we're using, and the real version turns on when the database goes live. Third, we've only tested with simulated ratings so far.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third one is what we'd love your call on: is simulated data okay for the evaluation section of the writeup, or do you want us to run a small pilot with real classmates next week?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week's plan: database + real UW Google sign-in, finish the web app, deploy it, run the pilot, write it up, rehearse.</a:t>
            </a:r>
            <a:endParaRPr/>
          </a:p>
        </p:txBody>
      </p:sp>
      <p:sp>
        <p:nvSpPr>
          <p:cNvPr id="177" name="Google Shape;177;g3e34c128fd3_8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34c128fd3_1_48: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e34c128fd3_1_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AASIYA — closing (~15 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Quick split. Habiba owned the solver swap to CP-SAT, the FastAPI endpoint, and the Bayesian reputation module — nine hours. I owned Supabase, the dev SSO, the Next.js profile form, and the k-anonymity guard with the synthetic rating generator — eight hours. Seventeen this week, thirty-one cumulative. Thanks — happy to take questions.</a:t>
            </a:r>
            <a:endParaRPr/>
          </a:p>
        </p:txBody>
      </p:sp>
      <p:sp>
        <p:nvSpPr>
          <p:cNvPr id="196" name="Google Shape;196;g3e34c128fd3_1_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habibaelswify.github.io/packpai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0" y="0"/>
            <a:ext cx="9144015" cy="318897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0" y="3188970"/>
            <a:ext cx="9144015" cy="96012"/>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p:nvPr/>
        </p:nvSpPr>
        <p:spPr>
          <a:xfrm>
            <a:off x="1371637" y="411480"/>
            <a:ext cx="6378110" cy="1303020"/>
          </a:xfrm>
          <a:prstGeom prst="rect">
            <a:avLst/>
          </a:prstGeom>
          <a:solidFill>
            <a:srgbClr val="4B2E83"/>
          </a:solidFill>
          <a:ln cap="flat" cmpd="sng" w="12700">
            <a:solidFill>
              <a:srgbClr val="6E52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3" name="Google Shape;133;p25"/>
          <p:cNvSpPr txBox="1"/>
          <p:nvPr/>
        </p:nvSpPr>
        <p:spPr>
          <a:xfrm>
            <a:off x="1371637" y="411480"/>
            <a:ext cx="6378110" cy="130302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6300" u="none" cap="none" strike="noStrike">
                <a:solidFill>
                  <a:srgbClr val="FFFFFF"/>
                </a:solidFill>
                <a:latin typeface="Calibri"/>
                <a:ea typeface="Calibri"/>
                <a:cs typeface="Calibri"/>
                <a:sym typeface="Calibri"/>
              </a:rPr>
              <a:t>PackPair</a:t>
            </a:r>
            <a:endParaRPr sz="1100"/>
          </a:p>
        </p:txBody>
      </p:sp>
      <p:sp>
        <p:nvSpPr>
          <p:cNvPr id="134" name="Google Shape;134;p25"/>
          <p:cNvSpPr/>
          <p:nvPr/>
        </p:nvSpPr>
        <p:spPr>
          <a:xfrm>
            <a:off x="1371637" y="1783080"/>
            <a:ext cx="6378110" cy="377190"/>
          </a:xfrm>
          <a:prstGeom prst="rect">
            <a:avLst/>
          </a:prstGeom>
          <a:solidFill>
            <a:srgbClr val="4B2E83"/>
          </a:solidFill>
          <a:ln cap="flat" cmpd="sng" w="12700">
            <a:solidFill>
              <a:srgbClr val="6E52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txBox="1"/>
          <p:nvPr/>
        </p:nvSpPr>
        <p:spPr>
          <a:xfrm>
            <a:off x="1371637" y="1783080"/>
            <a:ext cx="63781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FFFFFF"/>
                </a:solidFill>
                <a:latin typeface="Calibri"/>
                <a:ea typeface="Calibri"/>
                <a:cs typeface="Calibri"/>
                <a:sym typeface="Calibri"/>
              </a:rPr>
              <a:t>AI-powered team formation for UW class projects</a:t>
            </a:r>
            <a:endParaRPr sz="1100"/>
          </a:p>
        </p:txBody>
      </p:sp>
      <p:sp>
        <p:nvSpPr>
          <p:cNvPr id="136" name="Google Shape;136;p25"/>
          <p:cNvSpPr/>
          <p:nvPr/>
        </p:nvSpPr>
        <p:spPr>
          <a:xfrm>
            <a:off x="1371637" y="2194560"/>
            <a:ext cx="6378110" cy="342900"/>
          </a:xfrm>
          <a:prstGeom prst="rect">
            <a:avLst/>
          </a:prstGeom>
          <a:solidFill>
            <a:srgbClr val="4B2E83"/>
          </a:solidFill>
          <a:ln cap="flat" cmpd="sng" w="12700">
            <a:solidFill>
              <a:srgbClr val="6E52A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7" name="Google Shape;137;p25"/>
          <p:cNvSpPr txBox="1"/>
          <p:nvPr/>
        </p:nvSpPr>
        <p:spPr>
          <a:xfrm>
            <a:off x="1371637" y="2194560"/>
            <a:ext cx="6378110" cy="34290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200" u="none" cap="none" strike="noStrike">
                <a:solidFill>
                  <a:srgbClr val="FFC83D"/>
                </a:solidFill>
                <a:latin typeface="Calibri"/>
                <a:ea typeface="Calibri"/>
                <a:cs typeface="Calibri"/>
                <a:sym typeface="Calibri"/>
              </a:rPr>
              <a:t>DYOP Final Project   |   University of Washington</a:t>
            </a:r>
            <a:endParaRPr sz="1100"/>
          </a:p>
        </p:txBody>
      </p:sp>
      <p:sp>
        <p:nvSpPr>
          <p:cNvPr id="138" name="Google Shape;138;p25"/>
          <p:cNvSpPr/>
          <p:nvPr/>
        </p:nvSpPr>
        <p:spPr>
          <a:xfrm>
            <a:off x="3291928" y="2640330"/>
            <a:ext cx="2537528" cy="445770"/>
          </a:xfrm>
          <a:prstGeom prst="rect">
            <a:avLst/>
          </a:prstGeom>
          <a:solidFill>
            <a:srgbClr val="FFC83D"/>
          </a:solidFill>
          <a:ln cap="flat" cmpd="sng" w="12700">
            <a:solidFill>
              <a:srgbClr val="32235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9" name="Google Shape;139;p25"/>
          <p:cNvSpPr txBox="1"/>
          <p:nvPr/>
        </p:nvSpPr>
        <p:spPr>
          <a:xfrm>
            <a:off x="3291928" y="2640330"/>
            <a:ext cx="2537528" cy="44577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32235F"/>
                </a:solidFill>
                <a:latin typeface="Calibri"/>
                <a:ea typeface="Calibri"/>
                <a:cs typeface="Calibri"/>
                <a:sym typeface="Calibri"/>
              </a:rPr>
              <a:t>Week 2 Status Update</a:t>
            </a:r>
            <a:endParaRPr sz="1100"/>
          </a:p>
        </p:txBody>
      </p:sp>
      <p:sp>
        <p:nvSpPr>
          <p:cNvPr id="140" name="Google Shape;140;p25"/>
          <p:cNvSpPr/>
          <p:nvPr/>
        </p:nvSpPr>
        <p:spPr>
          <a:xfrm>
            <a:off x="1234473" y="3600450"/>
            <a:ext cx="6652437" cy="126873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1" name="Google Shape;141;p25"/>
          <p:cNvSpPr txBox="1"/>
          <p:nvPr/>
        </p:nvSpPr>
        <p:spPr>
          <a:xfrm>
            <a:off x="1234473" y="3669030"/>
            <a:ext cx="6652437" cy="34290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400" u="none" cap="none" strike="noStrike">
                <a:solidFill>
                  <a:srgbClr val="1B1B1F"/>
                </a:solidFill>
                <a:latin typeface="Calibri"/>
                <a:ea typeface="Calibri"/>
                <a:cs typeface="Calibri"/>
                <a:sym typeface="Calibri"/>
              </a:rPr>
              <a:t>Team Members</a:t>
            </a:r>
            <a:endParaRPr sz="1100"/>
          </a:p>
        </p:txBody>
      </p:sp>
      <p:sp>
        <p:nvSpPr>
          <p:cNvPr id="142" name="Google Shape;142;p25"/>
          <p:cNvSpPr txBox="1"/>
          <p:nvPr/>
        </p:nvSpPr>
        <p:spPr>
          <a:xfrm>
            <a:off x="1234473" y="4114800"/>
            <a:ext cx="6652437" cy="61722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800" u="none" cap="none" strike="noStrike">
                <a:solidFill>
                  <a:srgbClr val="1B1B1F"/>
                </a:solidFill>
                <a:latin typeface="Calibri"/>
                <a:ea typeface="Calibri"/>
                <a:cs typeface="Calibri"/>
                <a:sym typeface="Calibri"/>
              </a:rPr>
              <a:t>Habiba Elswify        Aasiya Sathar</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9" name="Google Shape;149;p26"/>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0" name="Google Shape;150;p26"/>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This Week: Planned vs. Done</a:t>
            </a:r>
            <a:endParaRPr sz="1100"/>
          </a:p>
        </p:txBody>
      </p:sp>
      <p:sp>
        <p:nvSpPr>
          <p:cNvPr id="151" name="Google Shape;151;p26"/>
          <p:cNvSpPr/>
          <p:nvPr/>
        </p:nvSpPr>
        <p:spPr>
          <a:xfrm>
            <a:off x="308618" y="960120"/>
            <a:ext cx="4114910" cy="384048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2" name="Google Shape;152;p26"/>
          <p:cNvSpPr/>
          <p:nvPr/>
        </p:nvSpPr>
        <p:spPr>
          <a:xfrm>
            <a:off x="308618" y="960120"/>
            <a:ext cx="4114910" cy="377190"/>
          </a:xfrm>
          <a:prstGeom prst="rect">
            <a:avLst/>
          </a:prstGeom>
          <a:solidFill>
            <a:srgbClr val="4B2E83"/>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3" name="Google Shape;153;p26"/>
          <p:cNvSpPr txBox="1"/>
          <p:nvPr/>
        </p:nvSpPr>
        <p:spPr>
          <a:xfrm>
            <a:off x="308618"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Planned</a:t>
            </a:r>
            <a:endParaRPr sz="1100"/>
          </a:p>
        </p:txBody>
      </p:sp>
      <p:sp>
        <p:nvSpPr>
          <p:cNvPr id="154" name="Google Shape;154;p26"/>
          <p:cNvSpPr txBox="1"/>
          <p:nvPr/>
        </p:nvSpPr>
        <p:spPr>
          <a:xfrm>
            <a:off x="308618" y="1405890"/>
            <a:ext cx="4114910" cy="3360420"/>
          </a:xfrm>
          <a:prstGeom prst="rect">
            <a:avLst/>
          </a:prstGeom>
          <a:noFill/>
          <a:ln>
            <a:noFill/>
          </a:ln>
        </p:spPr>
        <p:txBody>
          <a:bodyPr anchorCtr="0" anchor="t" bIns="68575" lIns="102875" spcFirstLastPara="1" rIns="102875" wrap="square" tIns="68575">
            <a:spAutoFit/>
          </a:bodyPr>
          <a:lstStyle/>
          <a:p>
            <a:pPr indent="0" lvl="0" marL="0" marR="0" rtl="0" algn="l">
              <a:lnSpc>
                <a:spcPct val="125000"/>
              </a:lnSpc>
              <a:spcBef>
                <a:spcPts val="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Add reputation tracking so good teammates get re-matched well</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Add privacy protection on peer ratings</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Upgrade the team-matcher to handle real class sizes (30+ students)</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Get the project on a public website</a:t>
            </a:r>
            <a:endParaRPr sz="1100"/>
          </a:p>
          <a:p>
            <a:pPr indent="0" lvl="0" marL="0" marR="0" rtl="0" algn="l">
              <a:lnSpc>
                <a:spcPct val="125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Start building the actual web app</a:t>
            </a:r>
            <a:endParaRPr sz="1100"/>
          </a:p>
        </p:txBody>
      </p:sp>
      <p:sp>
        <p:nvSpPr>
          <p:cNvPr id="155" name="Google Shape;155;p26"/>
          <p:cNvSpPr/>
          <p:nvPr/>
        </p:nvSpPr>
        <p:spPr>
          <a:xfrm>
            <a:off x="4697855" y="960120"/>
            <a:ext cx="4114910" cy="384048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p:nvPr/>
        </p:nvSpPr>
        <p:spPr>
          <a:xfrm>
            <a:off x="4697855" y="960120"/>
            <a:ext cx="4114910" cy="377190"/>
          </a:xfrm>
          <a:prstGeom prst="rect">
            <a:avLst/>
          </a:prstGeom>
          <a:solidFill>
            <a:srgbClr val="4B2E83"/>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7" name="Google Shape;157;p26"/>
          <p:cNvSpPr txBox="1"/>
          <p:nvPr/>
        </p:nvSpPr>
        <p:spPr>
          <a:xfrm>
            <a:off x="4697855"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Done (building on Week 1)</a:t>
            </a:r>
            <a:endParaRPr sz="1100"/>
          </a:p>
        </p:txBody>
      </p:sp>
      <p:sp>
        <p:nvSpPr>
          <p:cNvPr id="158" name="Google Shape;158;p26"/>
          <p:cNvSpPr txBox="1"/>
          <p:nvPr/>
        </p:nvSpPr>
        <p:spPr>
          <a:xfrm>
            <a:off x="4697855" y="1405890"/>
            <a:ext cx="4114910" cy="3360420"/>
          </a:xfrm>
          <a:prstGeom prst="rect">
            <a:avLst/>
          </a:prstGeom>
          <a:noFill/>
          <a:ln>
            <a:noFill/>
          </a:ln>
        </p:spPr>
        <p:txBody>
          <a:bodyPr anchorCtr="0" anchor="t" bIns="68575" lIns="102875" spcFirstLastPara="1" rIns="102875" wrap="square" tIns="68575">
            <a:spAutoFit/>
          </a:bodyPr>
          <a:lstStyle/>
          <a:p>
            <a:pPr indent="0" lvl="0" marL="0" marR="0" rtl="0" algn="l">
              <a:lnSpc>
                <a:spcPct val="125000"/>
              </a:lnSpc>
              <a:spcBef>
                <a:spcPts val="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Wk 1 </a:t>
            </a:r>
            <a:r>
              <a:rPr b="1" i="0" lang="en" sz="1000" u="none" cap="none" strike="noStrike">
                <a:solidFill>
                  <a:srgbClr val="1B1B1F"/>
                </a:solidFill>
                <a:latin typeface="Calibri"/>
                <a:ea typeface="Calibri"/>
                <a:cs typeface="Calibri"/>
                <a:sym typeface="Calibri"/>
              </a:rPr>
              <a:t>slow matcher (12 students max)</a:t>
            </a:r>
            <a:r>
              <a:rPr b="0" i="0" lang="en" sz="1000" u="none" cap="none" strike="noStrike">
                <a:solidFill>
                  <a:srgbClr val="1B1B1F"/>
                </a:solidFill>
                <a:latin typeface="Calibri"/>
                <a:ea typeface="Calibri"/>
                <a:cs typeface="Calibri"/>
                <a:sym typeface="Calibri"/>
              </a:rPr>
              <a:t> → </a:t>
            </a:r>
            <a:r>
              <a:rPr b="1" i="0" lang="en" sz="1000" u="none" cap="none" strike="noStrike">
                <a:solidFill>
                  <a:srgbClr val="1B1B1F"/>
                </a:solidFill>
                <a:latin typeface="Calibri"/>
                <a:ea typeface="Calibri"/>
                <a:cs typeface="Calibri"/>
                <a:sym typeface="Calibri"/>
              </a:rPr>
              <a:t>fast matcher</a:t>
            </a:r>
            <a:r>
              <a:rPr b="0" i="0" lang="en" sz="1000" u="none" cap="none" strike="noStrike">
                <a:solidFill>
                  <a:srgbClr val="1B1B1F"/>
                </a:solidFill>
                <a:latin typeface="Calibri"/>
                <a:ea typeface="Calibri"/>
                <a:cs typeface="Calibri"/>
                <a:sym typeface="Calibri"/>
              </a:rPr>
              <a:t> handling 30+ students</a:t>
            </a:r>
            <a:endParaRPr sz="1100"/>
          </a:p>
          <a:p>
            <a:pPr indent="0" lvl="0" marL="0" marR="0" rtl="0" algn="l">
              <a:lnSpc>
                <a:spcPct val="125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Wk 1 </a:t>
            </a:r>
            <a:r>
              <a:rPr b="1" i="0" lang="en" sz="1000" u="none" cap="none" strike="noStrike">
                <a:solidFill>
                  <a:srgbClr val="1B1B1F"/>
                </a:solidFill>
                <a:latin typeface="Calibri"/>
                <a:ea typeface="Calibri"/>
                <a:cs typeface="Calibri"/>
                <a:sym typeface="Calibri"/>
              </a:rPr>
              <a:t>known privacy + cold-start risks</a:t>
            </a:r>
            <a:r>
              <a:rPr b="0" i="0" lang="en" sz="1000" u="none" cap="none" strike="noStrike">
                <a:solidFill>
                  <a:srgbClr val="1B1B1F"/>
                </a:solidFill>
                <a:latin typeface="Calibri"/>
                <a:ea typeface="Calibri"/>
                <a:cs typeface="Calibri"/>
                <a:sym typeface="Calibri"/>
              </a:rPr>
              <a:t> → </a:t>
            </a:r>
            <a:r>
              <a:rPr b="1" i="0" lang="en" sz="1000" u="none" cap="none" strike="noStrike">
                <a:solidFill>
                  <a:srgbClr val="1B1B1F"/>
                </a:solidFill>
                <a:latin typeface="Calibri"/>
                <a:ea typeface="Calibri"/>
                <a:cs typeface="Calibri"/>
                <a:sym typeface="Calibri"/>
              </a:rPr>
              <a:t>both fixed in code</a:t>
            </a:r>
            <a:endParaRPr sz="1100"/>
          </a:p>
          <a:p>
            <a:pPr indent="0" lvl="0" marL="0" marR="0" rtl="0" algn="l">
              <a:lnSpc>
                <a:spcPct val="125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Wk 1 </a:t>
            </a:r>
            <a:r>
              <a:rPr b="1" i="0" lang="en" sz="1000" u="none" cap="none" strike="noStrike">
                <a:solidFill>
                  <a:srgbClr val="1B1B1F"/>
                </a:solidFill>
                <a:latin typeface="Calibri"/>
                <a:ea typeface="Calibri"/>
                <a:cs typeface="Calibri"/>
                <a:sym typeface="Calibri"/>
              </a:rPr>
              <a:t>static screenshot</a:t>
            </a:r>
            <a:r>
              <a:rPr b="0" i="0" lang="en" sz="1000" u="none" cap="none" strike="noStrike">
                <a:solidFill>
                  <a:srgbClr val="1B1B1F"/>
                </a:solidFill>
                <a:latin typeface="Calibri"/>
                <a:ea typeface="Calibri"/>
                <a:cs typeface="Calibri"/>
                <a:sym typeface="Calibri"/>
              </a:rPr>
              <a:t> → </a:t>
            </a:r>
            <a:r>
              <a:rPr b="1" i="0" lang="en" sz="1000" u="none" cap="none" strike="noStrike">
                <a:solidFill>
                  <a:srgbClr val="1B1B1F"/>
                </a:solidFill>
                <a:latin typeface="Calibri"/>
                <a:ea typeface="Calibri"/>
                <a:cs typeface="Calibri"/>
                <a:sym typeface="Calibri"/>
              </a:rPr>
              <a:t>interactive 4-step product</a:t>
            </a:r>
            <a:r>
              <a:rPr b="0" i="0" lang="en" sz="1000" u="none" cap="none" strike="noStrike">
                <a:solidFill>
                  <a:srgbClr val="1B1B1F"/>
                </a:solidFill>
                <a:latin typeface="Calibri"/>
                <a:ea typeface="Calibri"/>
                <a:cs typeface="Calibri"/>
                <a:sym typeface="Calibri"/>
              </a:rPr>
              <a:t>: profile → matches → rate → see reputation update</a:t>
            </a:r>
            <a:endParaRPr sz="1100"/>
          </a:p>
          <a:p>
            <a:pPr indent="0" lvl="0" marL="0" marR="0" rtl="0" algn="l">
              <a:lnSpc>
                <a:spcPct val="125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Wk 1 </a:t>
            </a:r>
            <a:r>
              <a:rPr b="1" i="0" lang="en" sz="1000" u="none" cap="none" strike="noStrike">
                <a:solidFill>
                  <a:srgbClr val="1B1B1F"/>
                </a:solidFill>
                <a:latin typeface="Calibri"/>
                <a:ea typeface="Calibri"/>
                <a:cs typeface="Calibri"/>
                <a:sym typeface="Calibri"/>
              </a:rPr>
              <a:t>"UW login blocked"</a:t>
            </a:r>
            <a:r>
              <a:rPr b="0" i="0" lang="en" sz="1000" u="none" cap="none" strike="noStrike">
                <a:solidFill>
                  <a:srgbClr val="1B1B1F"/>
                </a:solidFill>
                <a:latin typeface="Calibri"/>
                <a:ea typeface="Calibri"/>
                <a:cs typeface="Calibri"/>
                <a:sym typeface="Calibri"/>
              </a:rPr>
              <a:t> → </a:t>
            </a:r>
            <a:r>
              <a:rPr b="1" i="0" lang="en" sz="1000" u="none" cap="none" strike="noStrike">
                <a:solidFill>
                  <a:srgbClr val="1B1B1F"/>
                </a:solidFill>
                <a:latin typeface="Calibri"/>
                <a:ea typeface="Calibri"/>
                <a:cs typeface="Calibri"/>
                <a:sym typeface="Calibri"/>
              </a:rPr>
              <a:t>Sign in with UW Google</a:t>
            </a:r>
            <a:r>
              <a:rPr b="0" i="0" lang="en" sz="1000" u="none" cap="none" strike="noStrike">
                <a:solidFill>
                  <a:srgbClr val="1B1B1F"/>
                </a:solidFill>
                <a:latin typeface="Calibri"/>
                <a:ea typeface="Calibri"/>
                <a:cs typeface="Calibri"/>
                <a:sym typeface="Calibri"/>
              </a:rPr>
              <a:t> (per Pisan's tip — no UW IT needed)</a:t>
            </a:r>
            <a:endParaRPr sz="1100"/>
          </a:p>
          <a:p>
            <a:pPr indent="0" lvl="0" marL="0" marR="0" rtl="0" algn="l">
              <a:lnSpc>
                <a:spcPct val="125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Wk 1 </a:t>
            </a:r>
            <a:r>
              <a:rPr b="1" i="0" lang="en" sz="1000" u="none" cap="none" strike="noStrike">
                <a:solidFill>
                  <a:srgbClr val="1B1B1F"/>
                </a:solidFill>
                <a:latin typeface="Calibri"/>
                <a:ea typeface="Calibri"/>
                <a:cs typeface="Calibri"/>
                <a:sym typeface="Calibri"/>
              </a:rPr>
              <a:t>single prototype script</a:t>
            </a:r>
            <a:r>
              <a:rPr b="0" i="0" lang="en" sz="1000" u="none" cap="none" strike="noStrike">
                <a:solidFill>
                  <a:srgbClr val="1B1B1F"/>
                </a:solidFill>
                <a:latin typeface="Calibri"/>
                <a:ea typeface="Calibri"/>
                <a:cs typeface="Calibri"/>
                <a:sym typeface="Calibri"/>
              </a:rPr>
              <a:t> → </a:t>
            </a:r>
            <a:r>
              <a:rPr b="1" i="0" lang="en" sz="1000" u="none" cap="none" strike="noStrike">
                <a:solidFill>
                  <a:srgbClr val="1B1B1F"/>
                </a:solidFill>
                <a:latin typeface="Calibri"/>
                <a:ea typeface="Calibri"/>
                <a:cs typeface="Calibri"/>
                <a:sym typeface="Calibri"/>
              </a:rPr>
              <a:t>public repo + live website</a:t>
            </a:r>
            <a:r>
              <a:rPr b="0" i="0" lang="en" sz="1000" u="none" cap="none" strike="noStrike">
                <a:solidFill>
                  <a:srgbClr val="1B1B1F"/>
                </a:solidFill>
                <a:latin typeface="Calibri"/>
                <a:ea typeface="Calibri"/>
                <a:cs typeface="Calibri"/>
                <a:sym typeface="Calibri"/>
              </a:rPr>
              <a:t>; Pisan + Aasiya invited</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5" name="Google Shape;165;p27"/>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6" name="Google Shape;166;p27"/>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Progress / Demo</a:t>
            </a:r>
            <a:endParaRPr sz="1100"/>
          </a:p>
        </p:txBody>
      </p:sp>
      <p:sp>
        <p:nvSpPr>
          <p:cNvPr id="167" name="Google Shape;167;p27"/>
          <p:cNvSpPr/>
          <p:nvPr/>
        </p:nvSpPr>
        <p:spPr>
          <a:xfrm>
            <a:off x="308618" y="960120"/>
            <a:ext cx="6069492" cy="342900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packpair_product.png" id="168" name="Google Shape;168;p27"/>
          <p:cNvPicPr preferRelativeResize="0"/>
          <p:nvPr/>
        </p:nvPicPr>
        <p:blipFill rotWithShape="1">
          <a:blip r:embed="rId3">
            <a:alphaModFix/>
          </a:blip>
          <a:srcRect b="0" l="0" r="0" t="0"/>
          <a:stretch/>
        </p:blipFill>
        <p:spPr>
          <a:xfrm>
            <a:off x="390916" y="1042416"/>
            <a:ext cx="5904738" cy="3264408"/>
          </a:xfrm>
          <a:prstGeom prst="rect">
            <a:avLst/>
          </a:prstGeom>
          <a:noFill/>
          <a:ln>
            <a:noFill/>
          </a:ln>
        </p:spPr>
      </p:pic>
      <p:sp>
        <p:nvSpPr>
          <p:cNvPr id="169" name="Google Shape;169;p27"/>
          <p:cNvSpPr/>
          <p:nvPr/>
        </p:nvSpPr>
        <p:spPr>
          <a:xfrm>
            <a:off x="308618" y="4526280"/>
            <a:ext cx="6069492" cy="377190"/>
          </a:xfrm>
          <a:prstGeom prst="rect">
            <a:avLst/>
          </a:prstGeom>
          <a:solidFill>
            <a:srgbClr val="FFC83D"/>
          </a:solidFill>
          <a:ln cap="flat" cmpd="sng" w="19050">
            <a:solidFill>
              <a:srgbClr val="32235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0" name="Google Shape;170;p27"/>
          <p:cNvSpPr txBox="1"/>
          <p:nvPr/>
        </p:nvSpPr>
        <p:spPr>
          <a:xfrm>
            <a:off x="308618" y="4526280"/>
            <a:ext cx="6069492" cy="377190"/>
          </a:xfrm>
          <a:prstGeom prst="rect">
            <a:avLst/>
          </a:prstGeom>
          <a:noFill/>
          <a:ln>
            <a:noFill/>
          </a:ln>
        </p:spPr>
        <p:txBody>
          <a:bodyPr anchorCtr="0" anchor="ctr" bIns="13700" lIns="68575" spcFirstLastPara="1" rIns="68575" wrap="square" tIns="13700">
            <a:spAutoFit/>
          </a:bodyPr>
          <a:lstStyle/>
          <a:p>
            <a:pPr indent="0" lvl="0" marL="0" marR="0" rtl="0" algn="ctr">
              <a:spcBef>
                <a:spcPts val="0"/>
              </a:spcBef>
              <a:spcAft>
                <a:spcPts val="0"/>
              </a:spcAft>
              <a:buNone/>
            </a:pPr>
            <a:r>
              <a:rPr b="1" i="0" lang="en" sz="1200" u="none" cap="none" strike="noStrike">
                <a:solidFill>
                  <a:srgbClr val="32235F"/>
                </a:solidFill>
                <a:latin typeface="Calibri"/>
                <a:ea typeface="Calibri"/>
                <a:cs typeface="Calibri"/>
                <a:sym typeface="Calibri"/>
              </a:rPr>
              <a:t>Live at  →  </a:t>
            </a:r>
            <a:r>
              <a:rPr b="1" i="0" lang="en" sz="1200" u="sng" cap="none" strike="noStrike">
                <a:solidFill>
                  <a:schemeClr val="hlink"/>
                </a:solidFill>
                <a:latin typeface="Calibri"/>
                <a:ea typeface="Calibri"/>
                <a:cs typeface="Calibri"/>
                <a:sym typeface="Calibri"/>
                <a:hlinkClick r:id="rId4"/>
              </a:rPr>
              <a:t>https://habibaelswify.github.io/packpair/</a:t>
            </a:r>
            <a:endParaRPr sz="1100"/>
          </a:p>
        </p:txBody>
      </p:sp>
      <p:sp>
        <p:nvSpPr>
          <p:cNvPr id="171" name="Google Shape;171;p27"/>
          <p:cNvSpPr/>
          <p:nvPr/>
        </p:nvSpPr>
        <p:spPr>
          <a:xfrm>
            <a:off x="6549565" y="960120"/>
            <a:ext cx="2297491" cy="3943350"/>
          </a:xfrm>
          <a:prstGeom prst="rect">
            <a:avLst/>
          </a:prstGeom>
          <a:solidFill>
            <a:srgbClr val="FFFFF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2" name="Google Shape;172;p27"/>
          <p:cNvSpPr txBox="1"/>
          <p:nvPr/>
        </p:nvSpPr>
        <p:spPr>
          <a:xfrm>
            <a:off x="6549565" y="1062990"/>
            <a:ext cx="2297491" cy="34290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1B1B1F"/>
                </a:solidFill>
                <a:latin typeface="Calibri"/>
                <a:ea typeface="Calibri"/>
                <a:cs typeface="Calibri"/>
                <a:sym typeface="Calibri"/>
              </a:rPr>
              <a:t>Key highlights</a:t>
            </a:r>
            <a:endParaRPr sz="1100"/>
          </a:p>
        </p:txBody>
      </p:sp>
      <p:sp>
        <p:nvSpPr>
          <p:cNvPr id="173" name="Google Shape;173;p27"/>
          <p:cNvSpPr txBox="1"/>
          <p:nvPr/>
        </p:nvSpPr>
        <p:spPr>
          <a:xfrm>
            <a:off x="6549565" y="1440180"/>
            <a:ext cx="2297491" cy="3394710"/>
          </a:xfrm>
          <a:prstGeom prst="rect">
            <a:avLst/>
          </a:prstGeom>
          <a:noFill/>
          <a:ln>
            <a:noFill/>
          </a:ln>
        </p:spPr>
        <p:txBody>
          <a:bodyPr anchorCtr="0" anchor="t" bIns="68575" lIns="102875" spcFirstLastPara="1" rIns="102875" wrap="square" tIns="68575">
            <a:spAutoFit/>
          </a:bodyPr>
          <a:lstStyle/>
          <a:p>
            <a:pPr indent="0" lvl="0" marL="0" marR="0" rtl="0" algn="l">
              <a:lnSpc>
                <a:spcPct val="120000"/>
              </a:lnSpc>
              <a:spcBef>
                <a:spcPts val="0"/>
              </a:spcBef>
              <a:spcAft>
                <a:spcPts val="0"/>
              </a:spcAft>
              <a:buNone/>
            </a:pPr>
            <a:r>
              <a:rPr b="1" i="0" lang="en" sz="900" u="none" cap="none" strike="noStrike">
                <a:solidFill>
                  <a:srgbClr val="4B2E83"/>
                </a:solidFill>
                <a:latin typeface="Calibri"/>
                <a:ea typeface="Calibri"/>
                <a:cs typeface="Calibri"/>
                <a:sym typeface="Calibri"/>
              </a:rPr>
              <a:t>•  </a:t>
            </a:r>
            <a:r>
              <a:rPr b="1" i="0" lang="en" sz="900" u="none" cap="none" strike="noStrike">
                <a:solidFill>
                  <a:srgbClr val="1B1B1F"/>
                </a:solidFill>
                <a:latin typeface="Calibri"/>
                <a:ea typeface="Calibri"/>
                <a:cs typeface="Calibri"/>
                <a:sym typeface="Calibri"/>
              </a:rPr>
              <a:t>UW Google sign-in gate</a:t>
            </a:r>
            <a:r>
              <a:rPr b="0" i="0" lang="en" sz="900" u="none" cap="none" strike="noStrike">
                <a:solidFill>
                  <a:srgbClr val="1B1B1F"/>
                </a:solidFill>
                <a:latin typeface="Calibri"/>
                <a:ea typeface="Calibri"/>
                <a:cs typeface="Calibri"/>
                <a:sym typeface="Calibri"/>
              </a:rPr>
              <a:t> (`hd=uw.edu`) — Pisan's recommended path</a:t>
            </a:r>
            <a:endParaRPr sz="1100"/>
          </a:p>
          <a:p>
            <a:pPr indent="0" lvl="0" marL="0" marR="0" rtl="0" algn="l">
              <a:lnSpc>
                <a:spcPct val="120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1" i="0" lang="en" sz="900" u="none" cap="none" strike="noStrike">
                <a:solidFill>
                  <a:srgbClr val="1B1B1F"/>
                </a:solidFill>
                <a:latin typeface="Calibri"/>
                <a:ea typeface="Calibri"/>
                <a:cs typeface="Calibri"/>
                <a:sym typeface="Calibri"/>
              </a:rPr>
              <a:t>4-step workflow</a:t>
            </a:r>
            <a:r>
              <a:rPr b="0" i="0" lang="en" sz="900" u="none" cap="none" strike="noStrike">
                <a:solidFill>
                  <a:srgbClr val="1B1B1F"/>
                </a:solidFill>
                <a:latin typeface="Calibri"/>
                <a:ea typeface="Calibri"/>
                <a:cs typeface="Calibri"/>
                <a:sym typeface="Calibri"/>
              </a:rPr>
              <a:t>: profile → matches → rate → posterior</a:t>
            </a:r>
            <a:endParaRPr sz="1100"/>
          </a:p>
          <a:p>
            <a:pPr indent="0" lvl="0" marL="0" marR="0" rtl="0" algn="l">
              <a:lnSpc>
                <a:spcPct val="120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Polished matches view from Wk 1 + </a:t>
            </a:r>
            <a:r>
              <a:rPr b="1" i="0" lang="en" sz="900" u="none" cap="none" strike="noStrike">
                <a:solidFill>
                  <a:srgbClr val="1B1B1F"/>
                </a:solidFill>
                <a:latin typeface="Calibri"/>
                <a:ea typeface="Calibri"/>
                <a:cs typeface="Calibri"/>
                <a:sym typeface="Calibri"/>
              </a:rPr>
              <a:t>reputation badges</a:t>
            </a:r>
            <a:r>
              <a:rPr b="0" i="0" lang="en" sz="900" u="none" cap="none" strike="noStrike">
                <a:solidFill>
                  <a:srgbClr val="1B1B1F"/>
                </a:solidFill>
                <a:latin typeface="Calibri"/>
                <a:ea typeface="Calibri"/>
                <a:cs typeface="Calibri"/>
                <a:sym typeface="Calibri"/>
              </a:rPr>
              <a:t> + </a:t>
            </a:r>
            <a:r>
              <a:rPr b="1" i="0" lang="en" sz="900" u="none" cap="none" strike="noStrike">
                <a:solidFill>
                  <a:srgbClr val="1B1B1F"/>
                </a:solidFill>
                <a:latin typeface="Calibri"/>
                <a:ea typeface="Calibri"/>
                <a:cs typeface="Calibri"/>
                <a:sym typeface="Calibri"/>
              </a:rPr>
              <a:t>k-anonymity</a:t>
            </a:r>
            <a:r>
              <a:rPr b="0" i="0" lang="en" sz="900" u="none" cap="none" strike="noStrike">
                <a:solidFill>
                  <a:srgbClr val="1B1B1F"/>
                </a:solidFill>
                <a:latin typeface="Calibri"/>
                <a:ea typeface="Calibri"/>
                <a:cs typeface="Calibri"/>
                <a:sym typeface="Calibri"/>
              </a:rPr>
              <a:t> suppression visible</a:t>
            </a:r>
            <a:endParaRPr sz="1100"/>
          </a:p>
          <a:p>
            <a:pPr indent="0" lvl="0" marL="0" marR="0" rtl="0" algn="l">
              <a:lnSpc>
                <a:spcPct val="120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1" i="0" lang="en" sz="900" u="none" cap="none" strike="noStrike">
                <a:solidFill>
                  <a:srgbClr val="1B1B1F"/>
                </a:solidFill>
                <a:latin typeface="Calibri"/>
                <a:ea typeface="Calibri"/>
                <a:cs typeface="Calibri"/>
                <a:sym typeface="Calibri"/>
              </a:rPr>
              <a:t>Bayesian Beta posteriors</a:t>
            </a:r>
            <a:r>
              <a:rPr b="0" i="0" lang="en" sz="900" u="none" cap="none" strike="noStrike">
                <a:solidFill>
                  <a:srgbClr val="1B1B1F"/>
                </a:solidFill>
                <a:latin typeface="Calibri"/>
                <a:ea typeface="Calibri"/>
                <a:cs typeface="Calibri"/>
                <a:sym typeface="Calibri"/>
              </a:rPr>
              <a:t> plot live when you submit ratings</a:t>
            </a:r>
            <a:endParaRPr sz="1100"/>
          </a:p>
          <a:p>
            <a:pPr indent="0" lvl="0" marL="0" marR="0" rtl="0" algn="l">
              <a:lnSpc>
                <a:spcPct val="120000"/>
              </a:lnSpc>
              <a:spcBef>
                <a:spcPts val="600"/>
              </a:spcBef>
              <a:spcAft>
                <a:spcPts val="0"/>
              </a:spcAft>
              <a:buNone/>
            </a:pPr>
            <a:r>
              <a:rPr b="1" i="0" lang="en" sz="900" u="none" cap="none" strike="noStrike">
                <a:solidFill>
                  <a:srgbClr val="4B2E83"/>
                </a:solidFill>
                <a:latin typeface="Calibri"/>
                <a:ea typeface="Calibri"/>
                <a:cs typeface="Calibri"/>
                <a:sym typeface="Calibri"/>
              </a:rPr>
              <a:t>•  </a:t>
            </a:r>
            <a:r>
              <a:rPr b="0" i="0" lang="en" sz="900" u="none" cap="none" strike="noStrike">
                <a:solidFill>
                  <a:srgbClr val="1B1B1F"/>
                </a:solidFill>
                <a:latin typeface="Calibri"/>
                <a:ea typeface="Calibri"/>
                <a:cs typeface="Calibri"/>
                <a:sym typeface="Calibri"/>
              </a:rPr>
              <a:t>Open the URL below; `?demo=1` auto-fills past the gate</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0" name="Google Shape;180;p28"/>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1" name="Google Shape;181;p28"/>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Blockers &amp; Next Week's Plan</a:t>
            </a:r>
            <a:endParaRPr sz="1100"/>
          </a:p>
        </p:txBody>
      </p:sp>
      <p:sp>
        <p:nvSpPr>
          <p:cNvPr id="182" name="Google Shape;182;p28"/>
          <p:cNvSpPr/>
          <p:nvPr/>
        </p:nvSpPr>
        <p:spPr>
          <a:xfrm>
            <a:off x="308618" y="960120"/>
            <a:ext cx="4114910" cy="253746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3" name="Google Shape;183;p28"/>
          <p:cNvSpPr/>
          <p:nvPr/>
        </p:nvSpPr>
        <p:spPr>
          <a:xfrm>
            <a:off x="308618" y="960120"/>
            <a:ext cx="4114910" cy="377190"/>
          </a:xfrm>
          <a:prstGeom prst="rect">
            <a:avLst/>
          </a:prstGeom>
          <a:solidFill>
            <a:srgbClr val="B71C1C"/>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4" name="Google Shape;184;p28"/>
          <p:cNvSpPr txBox="1"/>
          <p:nvPr/>
        </p:nvSpPr>
        <p:spPr>
          <a:xfrm>
            <a:off x="308618"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Blockers / Risks</a:t>
            </a:r>
            <a:endParaRPr sz="1100"/>
          </a:p>
        </p:txBody>
      </p:sp>
      <p:sp>
        <p:nvSpPr>
          <p:cNvPr id="185" name="Google Shape;185;p28"/>
          <p:cNvSpPr txBox="1"/>
          <p:nvPr/>
        </p:nvSpPr>
        <p:spPr>
          <a:xfrm>
            <a:off x="308618" y="1405890"/>
            <a:ext cx="4114910" cy="2057400"/>
          </a:xfrm>
          <a:prstGeom prst="rect">
            <a:avLst/>
          </a:prstGeom>
          <a:noFill/>
          <a:ln>
            <a:noFill/>
          </a:ln>
        </p:spPr>
        <p:txBody>
          <a:bodyPr anchorCtr="0" anchor="t" bIns="68575" lIns="102875" spcFirstLastPara="1" rIns="102875" wrap="square" tIns="68575">
            <a:spAutoFit/>
          </a:bodyPr>
          <a:lstStyle/>
          <a:p>
            <a:pPr indent="0" lvl="0" marL="0" marR="0" rtl="0" algn="l">
              <a:lnSpc>
                <a:spcPct val="130000"/>
              </a:lnSpc>
              <a:spcBef>
                <a:spcPts val="0"/>
              </a:spcBef>
              <a:spcAft>
                <a:spcPts val="0"/>
              </a:spcAft>
              <a:buNone/>
            </a:pPr>
            <a:r>
              <a:rPr b="1" i="0" lang="en" sz="1100" u="none" cap="none" strike="noStrike">
                <a:solidFill>
                  <a:srgbClr val="4B2E83"/>
                </a:solidFill>
                <a:latin typeface="Calibri"/>
                <a:ea typeface="Calibri"/>
                <a:cs typeface="Calibri"/>
                <a:sym typeface="Calibri"/>
              </a:rPr>
              <a:t>•  </a:t>
            </a:r>
            <a:r>
              <a:rPr b="1" i="0" lang="en" sz="1100" u="none" cap="none" strike="noStrike">
                <a:solidFill>
                  <a:srgbClr val="1B1B1F"/>
                </a:solidFill>
                <a:latin typeface="Calibri"/>
                <a:ea typeface="Calibri"/>
                <a:cs typeface="Calibri"/>
                <a:sym typeface="Calibri"/>
              </a:rPr>
              <a:t>Web app backend isn't live yet</a:t>
            </a:r>
            <a:r>
              <a:rPr b="0" i="0" lang="en" sz="1100" u="none" cap="none" strike="noStrike">
                <a:solidFill>
                  <a:srgbClr val="1B1B1F"/>
                </a:solidFill>
                <a:latin typeface="Calibri"/>
                <a:ea typeface="Calibri"/>
                <a:cs typeface="Calibri"/>
                <a:sym typeface="Calibri"/>
              </a:rPr>
              <a:t> — the matcher runs in the browser for now</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1" i="0" lang="en" sz="1100" u="none" cap="none" strike="noStrike">
                <a:solidFill>
                  <a:srgbClr val="1B1B1F"/>
                </a:solidFill>
                <a:latin typeface="Calibri"/>
                <a:ea typeface="Calibri"/>
                <a:cs typeface="Calibri"/>
                <a:sym typeface="Calibri"/>
              </a:rPr>
              <a:t>Sign-in screen is a simulation</a:t>
            </a:r>
            <a:r>
              <a:rPr b="0" i="0" lang="en" sz="1100" u="none" cap="none" strike="noStrike">
                <a:solidFill>
                  <a:srgbClr val="1B1B1F"/>
                </a:solidFill>
                <a:latin typeface="Calibri"/>
                <a:ea typeface="Calibri"/>
                <a:cs typeface="Calibri"/>
                <a:sym typeface="Calibri"/>
              </a:rPr>
              <a:t> — real UW Google login lands when the database is up</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1" i="0" lang="en" sz="1100" u="none" cap="none" strike="noStrike">
                <a:solidFill>
                  <a:srgbClr val="1B1B1F"/>
                </a:solidFill>
                <a:latin typeface="Calibri"/>
                <a:ea typeface="Calibri"/>
                <a:cs typeface="Calibri"/>
                <a:sym typeface="Calibri"/>
              </a:rPr>
              <a:t>Haven't tested with real student ratings yet</a:t>
            </a:r>
            <a:r>
              <a:rPr b="0" i="0" lang="en" sz="1100" u="none" cap="none" strike="noStrike">
                <a:solidFill>
                  <a:srgbClr val="1B1B1F"/>
                </a:solidFill>
                <a:latin typeface="Calibri"/>
                <a:ea typeface="Calibri"/>
                <a:cs typeface="Calibri"/>
                <a:sym typeface="Calibri"/>
              </a:rPr>
              <a:t> — only simulated data so far</a:t>
            </a:r>
            <a:endParaRPr sz="1100"/>
          </a:p>
        </p:txBody>
      </p:sp>
      <p:sp>
        <p:nvSpPr>
          <p:cNvPr id="186" name="Google Shape;186;p28"/>
          <p:cNvSpPr/>
          <p:nvPr/>
        </p:nvSpPr>
        <p:spPr>
          <a:xfrm>
            <a:off x="308618" y="3600450"/>
            <a:ext cx="4114910" cy="1165860"/>
          </a:xfrm>
          <a:prstGeom prst="rect">
            <a:avLst/>
          </a:prstGeom>
          <a:solidFill>
            <a:srgbClr val="FCE4C2"/>
          </a:solidFill>
          <a:ln cap="flat" cmpd="sng" w="25400">
            <a:solidFill>
              <a:srgbClr val="FFC83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7" name="Google Shape;187;p28"/>
          <p:cNvSpPr txBox="1"/>
          <p:nvPr/>
        </p:nvSpPr>
        <p:spPr>
          <a:xfrm>
            <a:off x="445782" y="3703320"/>
            <a:ext cx="3840582" cy="27432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n" sz="1100" u="none" cap="none" strike="noStrike">
                <a:solidFill>
                  <a:srgbClr val="1B1B1F"/>
                </a:solidFill>
                <a:latin typeface="Calibri"/>
                <a:ea typeface="Calibri"/>
                <a:cs typeface="Calibri"/>
                <a:sym typeface="Calibri"/>
              </a:rPr>
              <a:t>Help needed from instructor:</a:t>
            </a:r>
            <a:endParaRPr sz="1100"/>
          </a:p>
        </p:txBody>
      </p:sp>
      <p:sp>
        <p:nvSpPr>
          <p:cNvPr id="188" name="Google Shape;188;p28"/>
          <p:cNvSpPr txBox="1"/>
          <p:nvPr/>
        </p:nvSpPr>
        <p:spPr>
          <a:xfrm>
            <a:off x="445782" y="3977640"/>
            <a:ext cx="3840600" cy="1971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lang="en" sz="1100">
                <a:solidFill>
                  <a:srgbClr val="1B1B1F"/>
                </a:solidFill>
                <a:latin typeface="Calibri"/>
                <a:ea typeface="Calibri"/>
                <a:cs typeface="Calibri"/>
                <a:sym typeface="Calibri"/>
              </a:rPr>
              <a:t>None for now</a:t>
            </a:r>
            <a:endParaRPr sz="1100"/>
          </a:p>
        </p:txBody>
      </p:sp>
      <p:sp>
        <p:nvSpPr>
          <p:cNvPr id="189" name="Google Shape;189;p28"/>
          <p:cNvSpPr/>
          <p:nvPr/>
        </p:nvSpPr>
        <p:spPr>
          <a:xfrm>
            <a:off x="4697855" y="960120"/>
            <a:ext cx="4114910" cy="3840480"/>
          </a:xfrm>
          <a:prstGeom prst="rect">
            <a:avLst/>
          </a:prstGeom>
          <a:solidFill>
            <a:srgbClr val="EFEFEF"/>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0" name="Google Shape;190;p28"/>
          <p:cNvSpPr/>
          <p:nvPr/>
        </p:nvSpPr>
        <p:spPr>
          <a:xfrm>
            <a:off x="4697855" y="960120"/>
            <a:ext cx="4114910" cy="377190"/>
          </a:xfrm>
          <a:prstGeom prst="rect">
            <a:avLst/>
          </a:prstGeom>
          <a:solidFill>
            <a:srgbClr val="1F7A3A"/>
          </a:solidFill>
          <a:ln cap="flat" cmpd="sng" w="254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1" name="Google Shape;191;p28"/>
          <p:cNvSpPr txBox="1"/>
          <p:nvPr/>
        </p:nvSpPr>
        <p:spPr>
          <a:xfrm>
            <a:off x="4697855" y="960120"/>
            <a:ext cx="411491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400" u="none" cap="none" strike="noStrike">
                <a:solidFill>
                  <a:srgbClr val="FFFFFF"/>
                </a:solidFill>
                <a:latin typeface="Calibri"/>
                <a:ea typeface="Calibri"/>
                <a:cs typeface="Calibri"/>
                <a:sym typeface="Calibri"/>
              </a:rPr>
              <a:t>Next Week's Goals</a:t>
            </a:r>
            <a:endParaRPr sz="1100"/>
          </a:p>
        </p:txBody>
      </p:sp>
      <p:sp>
        <p:nvSpPr>
          <p:cNvPr id="192" name="Google Shape;192;p28"/>
          <p:cNvSpPr txBox="1"/>
          <p:nvPr/>
        </p:nvSpPr>
        <p:spPr>
          <a:xfrm>
            <a:off x="4697855" y="1405890"/>
            <a:ext cx="4114910" cy="3291840"/>
          </a:xfrm>
          <a:prstGeom prst="rect">
            <a:avLst/>
          </a:prstGeom>
          <a:noFill/>
          <a:ln>
            <a:noFill/>
          </a:ln>
        </p:spPr>
        <p:txBody>
          <a:bodyPr anchorCtr="0" anchor="t" bIns="68575" lIns="102875" spcFirstLastPara="1" rIns="102875" wrap="square" tIns="68575">
            <a:spAutoFit/>
          </a:bodyPr>
          <a:lstStyle/>
          <a:p>
            <a:pPr indent="0" lvl="0" marL="0" marR="0" rtl="0" algn="l">
              <a:lnSpc>
                <a:spcPct val="130000"/>
              </a:lnSpc>
              <a:spcBef>
                <a:spcPts val="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Set up the database + real UW Google sign-in</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Build out the full web app</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Deploy it publicly</a:t>
            </a:r>
            <a:endParaRPr sz="1100"/>
          </a:p>
          <a:p>
            <a:pPr indent="0" lvl="0" marL="0" marR="0" rtl="0" algn="l">
              <a:lnSpc>
                <a:spcPct val="130000"/>
              </a:lnSpc>
              <a:spcBef>
                <a:spcPts val="600"/>
              </a:spcBef>
              <a:spcAft>
                <a:spcPts val="0"/>
              </a:spcAft>
              <a:buNone/>
            </a:pPr>
            <a:r>
              <a:rPr b="1" i="0" lang="en" sz="1100" u="none" cap="none" strike="noStrike">
                <a:solidFill>
                  <a:srgbClr val="4B2E83"/>
                </a:solidFill>
                <a:latin typeface="Calibri"/>
                <a:ea typeface="Calibri"/>
                <a:cs typeface="Calibri"/>
                <a:sym typeface="Calibri"/>
              </a:rPr>
              <a:t>•  </a:t>
            </a:r>
            <a:r>
              <a:rPr b="0" i="0" lang="en" sz="1100" u="none" cap="none" strike="noStrike">
                <a:solidFill>
                  <a:srgbClr val="1B1B1F"/>
                </a:solidFill>
                <a:latin typeface="Calibri"/>
                <a:ea typeface="Calibri"/>
                <a:cs typeface="Calibri"/>
                <a:sym typeface="Calibri"/>
              </a:rPr>
              <a:t>Try it with 5–10 classmates, write up the project, rehearse the demo</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p:nvPr/>
        </p:nvSpPr>
        <p:spPr>
          <a:xfrm>
            <a:off x="0" y="0"/>
            <a:ext cx="9144015" cy="651510"/>
          </a:xfrm>
          <a:prstGeom prst="rect">
            <a:avLst/>
          </a:prstGeom>
          <a:solidFill>
            <a:srgbClr val="4B2E8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9" name="Google Shape;199;p29"/>
          <p:cNvSpPr/>
          <p:nvPr/>
        </p:nvSpPr>
        <p:spPr>
          <a:xfrm>
            <a:off x="0" y="651510"/>
            <a:ext cx="9144015" cy="68580"/>
          </a:xfrm>
          <a:prstGeom prst="rect">
            <a:avLst/>
          </a:prstGeom>
          <a:solidFill>
            <a:srgbClr val="FFC8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0" name="Google Shape;200;p29"/>
          <p:cNvSpPr txBox="1"/>
          <p:nvPr/>
        </p:nvSpPr>
        <p:spPr>
          <a:xfrm>
            <a:off x="0" y="68580"/>
            <a:ext cx="9144015" cy="54864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2300" u="none" cap="none" strike="noStrike">
                <a:solidFill>
                  <a:srgbClr val="FFFFFF"/>
                </a:solidFill>
                <a:latin typeface="Calibri"/>
                <a:ea typeface="Calibri"/>
                <a:cs typeface="Calibri"/>
                <a:sym typeface="Calibri"/>
              </a:rPr>
              <a:t>Individual Contributions</a:t>
            </a:r>
            <a:endParaRPr sz="1100"/>
          </a:p>
        </p:txBody>
      </p:sp>
      <p:sp>
        <p:nvSpPr>
          <p:cNvPr id="201" name="Google Shape;201;p29"/>
          <p:cNvSpPr/>
          <p:nvPr/>
        </p:nvSpPr>
        <p:spPr>
          <a:xfrm>
            <a:off x="411491" y="960120"/>
            <a:ext cx="1783128" cy="377190"/>
          </a:xfrm>
          <a:prstGeom prst="rect">
            <a:avLst/>
          </a:prstGeom>
          <a:solidFill>
            <a:srgbClr val="4B2E83"/>
          </a:solidFill>
          <a:ln cap="flat" cmpd="sng" w="1905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2" name="Google Shape;202;p29"/>
          <p:cNvSpPr txBox="1"/>
          <p:nvPr/>
        </p:nvSpPr>
        <p:spPr>
          <a:xfrm>
            <a:off x="411491" y="960120"/>
            <a:ext cx="1783128"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Student</a:t>
            </a:r>
            <a:endParaRPr sz="1100"/>
          </a:p>
        </p:txBody>
      </p:sp>
      <p:sp>
        <p:nvSpPr>
          <p:cNvPr id="203" name="Google Shape;203;p29"/>
          <p:cNvSpPr/>
          <p:nvPr/>
        </p:nvSpPr>
        <p:spPr>
          <a:xfrm>
            <a:off x="2194619" y="960120"/>
            <a:ext cx="1234473" cy="377190"/>
          </a:xfrm>
          <a:prstGeom prst="rect">
            <a:avLst/>
          </a:prstGeom>
          <a:solidFill>
            <a:srgbClr val="4B2E83"/>
          </a:solidFill>
          <a:ln cap="flat" cmpd="sng" w="1905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4" name="Google Shape;204;p29"/>
          <p:cNvSpPr txBox="1"/>
          <p:nvPr/>
        </p:nvSpPr>
        <p:spPr>
          <a:xfrm>
            <a:off x="2194619" y="960120"/>
            <a:ext cx="1234473"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Hours</a:t>
            </a:r>
            <a:endParaRPr sz="1100"/>
          </a:p>
        </p:txBody>
      </p:sp>
      <p:sp>
        <p:nvSpPr>
          <p:cNvPr id="205" name="Google Shape;205;p29"/>
          <p:cNvSpPr/>
          <p:nvPr/>
        </p:nvSpPr>
        <p:spPr>
          <a:xfrm>
            <a:off x="3429091" y="960120"/>
            <a:ext cx="5692292" cy="377190"/>
          </a:xfrm>
          <a:prstGeom prst="rect">
            <a:avLst/>
          </a:prstGeom>
          <a:solidFill>
            <a:srgbClr val="4B2E83"/>
          </a:solidFill>
          <a:ln cap="flat" cmpd="sng" w="1905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6" name="Google Shape;206;p29"/>
          <p:cNvSpPr txBox="1"/>
          <p:nvPr/>
        </p:nvSpPr>
        <p:spPr>
          <a:xfrm>
            <a:off x="3429091" y="960120"/>
            <a:ext cx="5692292"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What I Worked On This Week</a:t>
            </a:r>
            <a:endParaRPr sz="1100"/>
          </a:p>
        </p:txBody>
      </p:sp>
      <p:sp>
        <p:nvSpPr>
          <p:cNvPr id="207" name="Google Shape;207;p29"/>
          <p:cNvSpPr/>
          <p:nvPr/>
        </p:nvSpPr>
        <p:spPr>
          <a:xfrm>
            <a:off x="411491" y="1337310"/>
            <a:ext cx="1783128" cy="92583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8" name="Google Shape;208;p29"/>
          <p:cNvSpPr txBox="1"/>
          <p:nvPr/>
        </p:nvSpPr>
        <p:spPr>
          <a:xfrm>
            <a:off x="411491" y="1337310"/>
            <a:ext cx="1783128"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1B1B1F"/>
                </a:solidFill>
                <a:latin typeface="Calibri"/>
                <a:ea typeface="Calibri"/>
                <a:cs typeface="Calibri"/>
                <a:sym typeface="Calibri"/>
              </a:rPr>
              <a:t>Habiba Elswify</a:t>
            </a:r>
            <a:endParaRPr sz="1100"/>
          </a:p>
        </p:txBody>
      </p:sp>
      <p:sp>
        <p:nvSpPr>
          <p:cNvPr id="209" name="Google Shape;209;p29"/>
          <p:cNvSpPr/>
          <p:nvPr/>
        </p:nvSpPr>
        <p:spPr>
          <a:xfrm>
            <a:off x="2194619" y="1337310"/>
            <a:ext cx="1234473" cy="92583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0" name="Google Shape;210;p29"/>
          <p:cNvSpPr txBox="1"/>
          <p:nvPr/>
        </p:nvSpPr>
        <p:spPr>
          <a:xfrm>
            <a:off x="2194619" y="1337310"/>
            <a:ext cx="1234473"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32235F"/>
                </a:solidFill>
                <a:latin typeface="Calibri"/>
                <a:ea typeface="Calibri"/>
                <a:cs typeface="Calibri"/>
                <a:sym typeface="Calibri"/>
              </a:rPr>
              <a:t>9 hrs</a:t>
            </a:r>
            <a:endParaRPr sz="1100"/>
          </a:p>
        </p:txBody>
      </p:sp>
      <p:sp>
        <p:nvSpPr>
          <p:cNvPr id="211" name="Google Shape;211;p29"/>
          <p:cNvSpPr/>
          <p:nvPr/>
        </p:nvSpPr>
        <p:spPr>
          <a:xfrm>
            <a:off x="3429091" y="1337310"/>
            <a:ext cx="5692292" cy="92583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2" name="Google Shape;212;p29"/>
          <p:cNvSpPr txBox="1"/>
          <p:nvPr/>
        </p:nvSpPr>
        <p:spPr>
          <a:xfrm>
            <a:off x="3429091" y="1337310"/>
            <a:ext cx="5692292" cy="925830"/>
          </a:xfrm>
          <a:prstGeom prst="rect">
            <a:avLst/>
          </a:prstGeom>
          <a:noFill/>
          <a:ln>
            <a:noFill/>
          </a:ln>
        </p:spPr>
        <p:txBody>
          <a:bodyPr anchorCtr="0" anchor="ctr" bIns="68575" lIns="102875" spcFirstLastPara="1" rIns="102875" wrap="square" tIns="68575">
            <a:spAutoFit/>
          </a:bodyPr>
          <a:lstStyle/>
          <a:p>
            <a:pPr indent="0" lvl="0" marL="0" marR="0" rtl="0" algn="l">
              <a:lnSpc>
                <a:spcPct val="120000"/>
              </a:lnSpc>
              <a:spcBef>
                <a:spcPts val="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Swapped enumerator → OR-Tools CP-SAT; benchmarked at 30 students</a:t>
            </a:r>
            <a:endParaRPr sz="1100"/>
          </a:p>
          <a:p>
            <a:pPr indent="0" lvl="0" marL="0" marR="0" rtl="0" algn="l">
              <a:lnSpc>
                <a:spcPct val="120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FastAPI /api/match endpoint + Bayesian Beta-prior reputation module</a:t>
            </a:r>
            <a:endParaRPr sz="1100"/>
          </a:p>
        </p:txBody>
      </p:sp>
      <p:sp>
        <p:nvSpPr>
          <p:cNvPr id="213" name="Google Shape;213;p29"/>
          <p:cNvSpPr/>
          <p:nvPr/>
        </p:nvSpPr>
        <p:spPr>
          <a:xfrm>
            <a:off x="411491" y="2263140"/>
            <a:ext cx="1783128" cy="925830"/>
          </a:xfrm>
          <a:prstGeom prst="rect">
            <a:avLst/>
          </a:prstGeom>
          <a:solidFill>
            <a:srgbClr val="EFEFE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4" name="Google Shape;214;p29"/>
          <p:cNvSpPr txBox="1"/>
          <p:nvPr/>
        </p:nvSpPr>
        <p:spPr>
          <a:xfrm>
            <a:off x="411491" y="2263140"/>
            <a:ext cx="1783128"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1B1B1F"/>
                </a:solidFill>
                <a:latin typeface="Calibri"/>
                <a:ea typeface="Calibri"/>
                <a:cs typeface="Calibri"/>
                <a:sym typeface="Calibri"/>
              </a:rPr>
              <a:t>Aasiya Sathar</a:t>
            </a:r>
            <a:endParaRPr sz="1100"/>
          </a:p>
        </p:txBody>
      </p:sp>
      <p:sp>
        <p:nvSpPr>
          <p:cNvPr id="215" name="Google Shape;215;p29"/>
          <p:cNvSpPr/>
          <p:nvPr/>
        </p:nvSpPr>
        <p:spPr>
          <a:xfrm>
            <a:off x="2194619" y="2263140"/>
            <a:ext cx="1234473" cy="925830"/>
          </a:xfrm>
          <a:prstGeom prst="rect">
            <a:avLst/>
          </a:prstGeom>
          <a:solidFill>
            <a:srgbClr val="EFEFE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6" name="Google Shape;216;p29"/>
          <p:cNvSpPr txBox="1"/>
          <p:nvPr/>
        </p:nvSpPr>
        <p:spPr>
          <a:xfrm>
            <a:off x="2194619" y="2263140"/>
            <a:ext cx="1234473" cy="92583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500" u="none" cap="none" strike="noStrike">
                <a:solidFill>
                  <a:srgbClr val="32235F"/>
                </a:solidFill>
                <a:latin typeface="Calibri"/>
                <a:ea typeface="Calibri"/>
                <a:cs typeface="Calibri"/>
                <a:sym typeface="Calibri"/>
              </a:rPr>
              <a:t>8 hrs</a:t>
            </a:r>
            <a:endParaRPr sz="1100"/>
          </a:p>
        </p:txBody>
      </p:sp>
      <p:sp>
        <p:nvSpPr>
          <p:cNvPr id="217" name="Google Shape;217;p29"/>
          <p:cNvSpPr/>
          <p:nvPr/>
        </p:nvSpPr>
        <p:spPr>
          <a:xfrm>
            <a:off x="3429091" y="2263140"/>
            <a:ext cx="5692292" cy="925830"/>
          </a:xfrm>
          <a:prstGeom prst="rect">
            <a:avLst/>
          </a:prstGeom>
          <a:solidFill>
            <a:srgbClr val="EFEFE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8" name="Google Shape;218;p29"/>
          <p:cNvSpPr txBox="1"/>
          <p:nvPr/>
        </p:nvSpPr>
        <p:spPr>
          <a:xfrm>
            <a:off x="3429091" y="2263140"/>
            <a:ext cx="5692292" cy="925830"/>
          </a:xfrm>
          <a:prstGeom prst="rect">
            <a:avLst/>
          </a:prstGeom>
          <a:noFill/>
          <a:ln>
            <a:noFill/>
          </a:ln>
        </p:spPr>
        <p:txBody>
          <a:bodyPr anchorCtr="0" anchor="ctr" bIns="68575" lIns="102875" spcFirstLastPara="1" rIns="102875" wrap="square" tIns="68575">
            <a:spAutoFit/>
          </a:bodyPr>
          <a:lstStyle/>
          <a:p>
            <a:pPr indent="0" lvl="0" marL="0" marR="0" rtl="0" algn="l">
              <a:lnSpc>
                <a:spcPct val="120000"/>
              </a:lnSpc>
              <a:spcBef>
                <a:spcPts val="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Supabase schema + dev SSO; Next.js profile form wired to /api/match</a:t>
            </a:r>
            <a:endParaRPr sz="1100"/>
          </a:p>
          <a:p>
            <a:pPr indent="0" lvl="0" marL="0" marR="0" rtl="0" algn="l">
              <a:lnSpc>
                <a:spcPct val="120000"/>
              </a:lnSpc>
              <a:spcBef>
                <a:spcPts val="600"/>
              </a:spcBef>
              <a:spcAft>
                <a:spcPts val="0"/>
              </a:spcAft>
              <a:buNone/>
            </a:pPr>
            <a:r>
              <a:rPr b="1" i="0" lang="en" sz="1000" u="none" cap="none" strike="noStrike">
                <a:solidFill>
                  <a:srgbClr val="4B2E83"/>
                </a:solidFill>
                <a:latin typeface="Calibri"/>
                <a:ea typeface="Calibri"/>
                <a:cs typeface="Calibri"/>
                <a:sym typeface="Calibri"/>
              </a:rPr>
              <a:t>•  </a:t>
            </a:r>
            <a:r>
              <a:rPr b="0" i="0" lang="en" sz="1000" u="none" cap="none" strike="noStrike">
                <a:solidFill>
                  <a:srgbClr val="1B1B1F"/>
                </a:solidFill>
                <a:latin typeface="Calibri"/>
                <a:ea typeface="Calibri"/>
                <a:cs typeface="Calibri"/>
                <a:sym typeface="Calibri"/>
              </a:rPr>
              <a:t>k-anonymity guard (k=5) on rating aggregates + synthetic rating generator</a:t>
            </a:r>
            <a:endParaRPr sz="1100"/>
          </a:p>
        </p:txBody>
      </p:sp>
      <p:sp>
        <p:nvSpPr>
          <p:cNvPr id="219" name="Google Shape;219;p29"/>
          <p:cNvSpPr/>
          <p:nvPr/>
        </p:nvSpPr>
        <p:spPr>
          <a:xfrm>
            <a:off x="411491" y="3326130"/>
            <a:ext cx="8709892" cy="377190"/>
          </a:xfrm>
          <a:prstGeom prst="rect">
            <a:avLst/>
          </a:prstGeom>
          <a:solidFill>
            <a:srgbClr val="FFC83D"/>
          </a:solidFill>
          <a:ln cap="flat" cmpd="sng" w="19050">
            <a:solidFill>
              <a:srgbClr val="32235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0" name="Google Shape;220;p29"/>
          <p:cNvSpPr txBox="1"/>
          <p:nvPr/>
        </p:nvSpPr>
        <p:spPr>
          <a:xfrm>
            <a:off x="411491" y="3326130"/>
            <a:ext cx="8709892"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n" sz="1200" u="none" cap="none" strike="noStrike">
                <a:solidFill>
                  <a:srgbClr val="32235F"/>
                </a:solidFill>
                <a:latin typeface="Calibri"/>
                <a:ea typeface="Calibri"/>
                <a:cs typeface="Calibri"/>
                <a:sym typeface="Calibri"/>
              </a:rPr>
              <a:t>Team total this week:  17 hrs    (target: 5–10 hrs per person  ✓)</a:t>
            </a:r>
            <a:endParaRPr sz="1100"/>
          </a:p>
        </p:txBody>
      </p:sp>
      <p:sp>
        <p:nvSpPr>
          <p:cNvPr id="221" name="Google Shape;221;p29"/>
          <p:cNvSpPr/>
          <p:nvPr/>
        </p:nvSpPr>
        <p:spPr>
          <a:xfrm>
            <a:off x="411491" y="3806190"/>
            <a:ext cx="8709892" cy="308610"/>
          </a:xfrm>
          <a:prstGeom prst="rect">
            <a:avLst/>
          </a:prstGeom>
          <a:solidFill>
            <a:srgbClr val="FFFFFF"/>
          </a:solidFill>
          <a:ln cap="flat" cmpd="sng" w="12700">
            <a:solidFill>
              <a:srgbClr val="4B2E8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2" name="Google Shape;222;p29"/>
          <p:cNvSpPr txBox="1"/>
          <p:nvPr/>
        </p:nvSpPr>
        <p:spPr>
          <a:xfrm>
            <a:off x="411491" y="3806190"/>
            <a:ext cx="8709892" cy="30861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0" i="0" lang="en" sz="1100" u="none" cap="none" strike="noStrike">
                <a:solidFill>
                  <a:srgbClr val="4A4A55"/>
                </a:solidFill>
                <a:latin typeface="Calibri"/>
                <a:ea typeface="Calibri"/>
                <a:cs typeface="Calibri"/>
                <a:sym typeface="Calibri"/>
              </a:rPr>
              <a:t>Cumulative team hours to date:   31 hrs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